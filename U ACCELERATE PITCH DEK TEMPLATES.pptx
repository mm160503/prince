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61" r:id="rId5"/>
    <p:sldId id="262" r:id="rId6"/>
    <p:sldId id="274" r:id="rId7"/>
    <p:sldId id="264" r:id="rId8"/>
    <p:sldId id="277" r:id="rId9"/>
    <p:sldId id="278" r:id="rId10"/>
    <p:sldId id="273" r:id="rId11"/>
    <p:sldId id="265" r:id="rId12"/>
    <p:sldId id="279" r:id="rId13"/>
    <p:sldId id="280" r:id="rId14"/>
    <p:sldId id="272" r:id="rId15"/>
    <p:sldId id="270" r:id="rId16"/>
    <p:sldId id="281" r:id="rId17"/>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8BE50"/>
    <a:srgbClr val="0555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0" autoAdjust="0"/>
    <p:restoredTop sz="91578" autoAdjust="0"/>
  </p:normalViewPr>
  <p:slideViewPr>
    <p:cSldViewPr showGuides="1">
      <p:cViewPr varScale="1">
        <p:scale>
          <a:sx n="69" d="100"/>
          <a:sy n="69" d="100"/>
        </p:scale>
        <p:origin x="824" y="2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7296"/>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0" vertOverflow="ellipsis" vert="horz" wrap="square" anchor="ctr" anchorCtr="1"/>
          <a:lstStyle/>
          <a:p>
            <a:pPr>
              <a:defRPr lang="en-GB" sz="2160" b="1" i="0" u="none" strike="noStrike" kern="1200" baseline="0">
                <a:solidFill>
                  <a:schemeClr val="tx1"/>
                </a:solidFill>
                <a:latin typeface="+mn-lt"/>
                <a:ea typeface="+mn-ea"/>
                <a:cs typeface="+mn-cs"/>
              </a:defRPr>
            </a:pPr>
            <a:r>
              <a:rPr lang="en-GB"/>
              <a:t>YEAR</a:t>
            </a:r>
            <a:endParaRPr lang="en-GB"/>
          </a:p>
        </c:rich>
      </c:tx>
      <c:layout/>
      <c:overlay val="0"/>
    </c:title>
    <c:autoTitleDeleted val="0"/>
    <c:plotArea>
      <c:layout>
        <c:manualLayout>
          <c:layoutTarget val="inner"/>
          <c:xMode val="edge"/>
          <c:yMode val="edge"/>
          <c:x val="0.0497431922572178"/>
          <c:y val="0.081304749015748"/>
          <c:w val="0.948173474409449"/>
          <c:h val="0.816866018700787"/>
        </c:manualLayout>
      </c:layout>
      <c:lineChart>
        <c:grouping val="standard"/>
        <c:varyColors val="0"/>
        <c:ser>
          <c:idx val="0"/>
          <c:order val="0"/>
          <c:tx>
            <c:strRef>
              <c:f>Sheet1!$B$1</c:f>
              <c:strCache>
                <c:ptCount val="1"/>
                <c:pt idx="0">
                  <c:v>Costs</c:v>
                </c:pt>
              </c:strCache>
            </c:strRef>
          </c:tx>
          <c:dLbls>
            <c:delete val="1"/>
          </c:dLbls>
          <c:cat>
            <c:strRef>
              <c:f>Sheet1!$A$2:$A$7</c:f>
              <c:strCache>
                <c:ptCount val="6"/>
                <c:pt idx="0">
                  <c:v>January</c:v>
                </c:pt>
                <c:pt idx="1">
                  <c:v>February</c:v>
                </c:pt>
                <c:pt idx="2">
                  <c:v>March</c:v>
                </c:pt>
                <c:pt idx="3">
                  <c:v>April</c:v>
                </c:pt>
                <c:pt idx="4">
                  <c:v>May</c:v>
                </c:pt>
                <c:pt idx="5">
                  <c:v>June</c:v>
                </c:pt>
              </c:strCache>
            </c:strRef>
          </c:cat>
          <c:val>
            <c:numRef>
              <c:f>Sheet1!$B$2:$B$7</c:f>
              <c:numCache>
                <c:formatCode>General</c:formatCode>
                <c:ptCount val="6"/>
              </c:numCache>
            </c:numRef>
          </c:val>
          <c:smooth val="0"/>
        </c:ser>
        <c:ser>
          <c:idx val="1"/>
          <c:order val="1"/>
          <c:tx>
            <c:strRef>
              <c:f>Sheet1!$C$1</c:f>
              <c:strCache>
                <c:ptCount val="1"/>
                <c:pt idx="0">
                  <c:v>Revenues</c:v>
                </c:pt>
              </c:strCache>
            </c:strRef>
          </c:tx>
          <c:dLbls>
            <c:delete val="1"/>
          </c:dLbls>
          <c:cat>
            <c:strRef>
              <c:f>Sheet1!$A$2:$A$7</c:f>
              <c:strCache>
                <c:ptCount val="6"/>
                <c:pt idx="0">
                  <c:v>January</c:v>
                </c:pt>
                <c:pt idx="1">
                  <c:v>February</c:v>
                </c:pt>
                <c:pt idx="2">
                  <c:v>March</c:v>
                </c:pt>
                <c:pt idx="3">
                  <c:v>April</c:v>
                </c:pt>
                <c:pt idx="4">
                  <c:v>May</c:v>
                </c:pt>
                <c:pt idx="5">
                  <c:v>June</c:v>
                </c:pt>
              </c:strCache>
            </c:strRef>
          </c:cat>
          <c:val>
            <c:numRef>
              <c:f>Sheet1!$C$2:$C$7</c:f>
              <c:numCache>
                <c:formatCode>General</c:formatCode>
                <c:ptCount val="6"/>
              </c:numCache>
            </c:numRef>
          </c:val>
          <c:smooth val="0"/>
        </c:ser>
        <c:ser>
          <c:idx val="2"/>
          <c:order val="2"/>
          <c:tx>
            <c:strRef>
              <c:f>Sheet1!$D$1</c:f>
              <c:strCache>
                <c:ptCount val="1"/>
                <c:pt idx="0">
                  <c:v>Gross Profit</c:v>
                </c:pt>
              </c:strCache>
            </c:strRef>
          </c:tx>
          <c:dLbls>
            <c:delete val="1"/>
          </c:dLbls>
          <c:cat>
            <c:strRef>
              <c:f>Sheet1!$A$2:$A$7</c:f>
              <c:strCache>
                <c:ptCount val="6"/>
                <c:pt idx="0">
                  <c:v>January</c:v>
                </c:pt>
                <c:pt idx="1">
                  <c:v>February</c:v>
                </c:pt>
                <c:pt idx="2">
                  <c:v>March</c:v>
                </c:pt>
                <c:pt idx="3">
                  <c:v>April</c:v>
                </c:pt>
                <c:pt idx="4">
                  <c:v>May</c:v>
                </c:pt>
                <c:pt idx="5">
                  <c:v>June</c:v>
                </c:pt>
              </c:strCache>
            </c:strRef>
          </c:cat>
          <c:val>
            <c:numRef>
              <c:f>Sheet1!$D$2:$D$7</c:f>
              <c:numCache>
                <c:formatCode>General</c:formatCode>
                <c:ptCount val="6"/>
              </c:numCache>
            </c:numRef>
          </c:val>
          <c:smooth val="0"/>
        </c:ser>
        <c:ser>
          <c:idx val="3"/>
          <c:order val="3"/>
          <c:tx>
            <c:strRef>
              <c:f>Sheet1!$E$1</c:f>
              <c:strCache>
                <c:ptCount val="1"/>
                <c:pt idx="0">
                  <c:v>Net Profit</c:v>
                </c:pt>
              </c:strCache>
            </c:strRef>
          </c:tx>
          <c:dLbls>
            <c:delete val="1"/>
          </c:dLbls>
          <c:cat>
            <c:strRef>
              <c:f>Sheet1!$A$2:$A$7</c:f>
              <c:strCache>
                <c:ptCount val="6"/>
                <c:pt idx="0">
                  <c:v>January</c:v>
                </c:pt>
                <c:pt idx="1">
                  <c:v>February</c:v>
                </c:pt>
                <c:pt idx="2">
                  <c:v>March</c:v>
                </c:pt>
                <c:pt idx="3">
                  <c:v>April</c:v>
                </c:pt>
                <c:pt idx="4">
                  <c:v>May</c:v>
                </c:pt>
                <c:pt idx="5">
                  <c:v>June</c:v>
                </c:pt>
              </c:strCache>
            </c:strRef>
          </c:cat>
          <c:val>
            <c:numRef>
              <c:f>Sheet1!$E$2:$E$7</c:f>
              <c:numCache>
                <c:formatCode>General</c:formatCode>
                <c:ptCount val="6"/>
              </c:numCache>
            </c:numRef>
          </c:val>
          <c:smooth val="0"/>
        </c:ser>
        <c:dLbls>
          <c:showLegendKey val="0"/>
          <c:showVal val="0"/>
          <c:showCatName val="0"/>
          <c:showSerName val="0"/>
          <c:showPercent val="0"/>
          <c:showBubbleSize val="0"/>
        </c:dLbls>
        <c:marker val="1"/>
        <c:smooth val="0"/>
        <c:axId val="133312896"/>
        <c:axId val="133314432"/>
      </c:lineChart>
      <c:catAx>
        <c:axId val="133312896"/>
        <c:scaling>
          <c:orientation val="minMax"/>
        </c:scaling>
        <c:delete val="0"/>
        <c:axPos val="b"/>
        <c:numFmt formatCode="General" sourceLinked="1"/>
        <c:majorTickMark val="none"/>
        <c:minorTickMark val="none"/>
        <c:tickLblPos val="nextTo"/>
        <c:txPr>
          <a:bodyPr rot="-60000000" spcFirstLastPara="0" vertOverflow="ellipsis" vert="horz" wrap="square" anchor="ctr" anchorCtr="1"/>
          <a:lstStyle/>
          <a:p>
            <a:pPr>
              <a:defRPr lang="en-GB" sz="1800" b="0" i="0" u="none" strike="noStrike" kern="1200" baseline="0">
                <a:solidFill>
                  <a:schemeClr val="tx1"/>
                </a:solidFill>
                <a:latin typeface="+mn-lt"/>
                <a:ea typeface="+mn-ea"/>
                <a:cs typeface="+mn-cs"/>
              </a:defRPr>
            </a:pPr>
          </a:p>
        </c:txPr>
        <c:crossAx val="133314432"/>
        <c:crosses val="autoZero"/>
        <c:auto val="1"/>
        <c:lblAlgn val="ctr"/>
        <c:lblOffset val="100"/>
        <c:noMultiLvlLbl val="0"/>
      </c:catAx>
      <c:valAx>
        <c:axId val="133314432"/>
        <c:scaling>
          <c:orientation val="minMax"/>
        </c:scaling>
        <c:delete val="0"/>
        <c:axPos val="l"/>
        <c:majorGridlines/>
        <c:numFmt formatCode="General" sourceLinked="1"/>
        <c:majorTickMark val="none"/>
        <c:minorTickMark val="none"/>
        <c:tickLblPos val="nextTo"/>
        <c:txPr>
          <a:bodyPr rot="-60000000" spcFirstLastPara="0" vertOverflow="ellipsis" vert="horz" wrap="square" anchor="ctr" anchorCtr="1"/>
          <a:lstStyle/>
          <a:p>
            <a:pPr>
              <a:defRPr lang="en-GB" sz="1800" b="0" i="0" u="none" strike="noStrike" kern="1200" baseline="0">
                <a:solidFill>
                  <a:schemeClr val="tx1"/>
                </a:solidFill>
                <a:latin typeface="+mn-lt"/>
                <a:ea typeface="+mn-ea"/>
                <a:cs typeface="+mn-cs"/>
              </a:defRPr>
            </a:pPr>
          </a:p>
        </c:txPr>
        <c:crossAx val="133312896"/>
        <c:crosses val="autoZero"/>
        <c:crossBetween val="between"/>
      </c:valAx>
    </c:plotArea>
    <c:legend>
      <c:legendPos val="b"/>
      <c:layout/>
      <c:overlay val="0"/>
      <c:txPr>
        <a:bodyPr rot="0" spcFirstLastPara="0" vertOverflow="ellipsis" vert="horz" wrap="square" anchor="ctr" anchorCtr="1"/>
        <a:lstStyle/>
        <a:p>
          <a:pPr>
            <a:defRPr lang="en-GB" sz="18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803f4253-407e-4bed-910f-80e733210562}"/>
      </c:ext>
    </c:extLst>
  </c:chart>
  <c:txPr>
    <a:bodyPr/>
    <a:lstStyle/>
    <a:p>
      <a:pPr>
        <a:defRPr lang="en-GB" sz="1800"/>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noEditPoints="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
            <a:endParaRPr lang="en-US"/>
          </a:p>
        </p:txBody>
      </p:sp>
      <p:sp>
        <p:nvSpPr>
          <p:cNvPr id="3" name="Date Placeholder 2"/>
          <p:cNvSpPr>
            <a:spLocks noGrp="1" noEditPoints="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
            <a:r>
              <a:rPr lang="en-US"/>
              <a:t>*</a:t>
            </a:r>
            <a:endParaRPr lang="en-US"/>
          </a:p>
        </p:txBody>
      </p:sp>
      <p:sp>
        <p:nvSpPr>
          <p:cNvPr id="4" name="Slide Image Placeholder 3"/>
          <p:cNvSpPr>
            <a:spLocks noGrp="1" noRot="1" noChangeAspect="1" noEditPoints="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
            <a:endParaRPr lang="en-US"/>
          </a:p>
        </p:txBody>
      </p:sp>
      <p:sp>
        <p:nvSpPr>
          <p:cNvPr id="5" name="Notes Placeholder 4"/>
          <p:cNvSpPr>
            <a:spLocks noGrp="1" noEditPoints="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noEditPoints="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
            <a:endParaRPr lang="en-US"/>
          </a:p>
        </p:txBody>
      </p:sp>
      <p:sp>
        <p:nvSpPr>
          <p:cNvPr id="7" name="Slide Number Placeholder 6"/>
          <p:cNvSpPr>
            <a:spLocks noGrp="1" noEditPoints="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
            <a:r>
              <a:rPr lang="en-US"/>
              <a:t>#</a:t>
            </a:r>
            <a:endParaRPr 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4181BC8E-F8D3-40B5-8CEC-3B2EB67601DC}"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68299AC8-30CA-4D58-B63D-27FC332B31F4}"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noEditPoints="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noEditPoints="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a:t>Click to edit Master subtitle style</a:t>
            </a:r>
            <a:endParaRPr lang="en-US"/>
          </a:p>
        </p:txBody>
      </p:sp>
      <p:sp>
        <p:nvSpPr>
          <p:cNvPr id="4" name="Date Placeholder 3"/>
          <p:cNvSpPr>
            <a:spLocks noGrp="1" noEditPoints="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noEditPoints="1"/>
          </p:cNvSpPr>
          <p:nvPr>
            <p:ph type="ftr" sz="quarter" idx="11"/>
          </p:nvPr>
        </p:nvSpPr>
        <p:spPr/>
        <p:txBody>
          <a:bodyPr/>
          <a:lstStyle/>
          <a:p>
            <a:endParaRPr lang="en-US"/>
          </a:p>
        </p:txBody>
      </p:sp>
      <p:sp>
        <p:nvSpPr>
          <p:cNvPr id="6" name="Slide Number Placeholder 5"/>
          <p:cNvSpPr>
            <a:spLocks noGrp="1" noEditPoints="1"/>
          </p:cNvSpPr>
          <p:nvPr>
            <p:ph type="sldNum" sz="quarter" idx="12"/>
          </p:nvPr>
        </p:nvSpPr>
        <p:spPr/>
        <p:txBody>
          <a:bodyPr/>
          <a:lstStyle/>
          <a:p>
            <a:fld id="{B6F15528-21DE-4FAA-801E-634DDDAF4B2B}"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endParaRPr lang="en-US"/>
          </a:p>
        </p:txBody>
      </p:sp>
      <p:sp>
        <p:nvSpPr>
          <p:cNvPr id="3" name="Content Placeholder 2"/>
          <p:cNvSpPr>
            <a:spLocks noGrp="1" noEditPoints="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noEditPoints="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noEditPoints="1"/>
          </p:cNvSpPr>
          <p:nvPr>
            <p:ph type="ftr" sz="quarter" idx="11"/>
          </p:nvPr>
        </p:nvSpPr>
        <p:spPr/>
        <p:txBody>
          <a:bodyPr/>
          <a:lstStyle/>
          <a:p>
            <a:endParaRPr lang="en-US"/>
          </a:p>
        </p:txBody>
      </p:sp>
      <p:sp>
        <p:nvSpPr>
          <p:cNvPr id="6" name="Slide Number Placeholder 5"/>
          <p:cNvSpPr>
            <a:spLocks noGrp="1" noEditPoints="1"/>
          </p:cNvSpPr>
          <p:nvPr>
            <p:ph type="sldNum" sz="quarter" idx="12"/>
          </p:nvPr>
        </p:nvSpPr>
        <p:spPr/>
        <p:txBody>
          <a:bodyPr/>
          <a:lstStyle/>
          <a:p>
            <a:fld id="{B6F15528-21DE-4FAA-801E-634DDDAF4B2B}"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noEditPoints="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noEditPoints="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noEditPoints="1"/>
          </p:cNvSpPr>
          <p:nvPr>
            <p:ph type="ftr" sz="quarter" idx="11"/>
          </p:nvPr>
        </p:nvSpPr>
        <p:spPr/>
        <p:txBody>
          <a:bodyPr/>
          <a:lstStyle/>
          <a:p>
            <a:endParaRPr lang="en-US"/>
          </a:p>
        </p:txBody>
      </p:sp>
      <p:sp>
        <p:nvSpPr>
          <p:cNvPr id="6" name="Slide Number Placeholder 5"/>
          <p:cNvSpPr>
            <a:spLocks noGrp="1" noEditPoints="1"/>
          </p:cNvSpPr>
          <p:nvPr>
            <p:ph type="sldNum" sz="quarter" idx="12"/>
          </p:nvPr>
        </p:nvSpPr>
        <p:spPr/>
        <p:txBody>
          <a:bodyPr/>
          <a:lstStyle/>
          <a:p>
            <a:fld id="{B6F15528-21DE-4FAA-801E-634DDDAF4B2B}"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endParaRPr lang="en-US"/>
          </a:p>
        </p:txBody>
      </p:sp>
      <p:sp>
        <p:nvSpPr>
          <p:cNvPr id="3" name="Content Placeholder 2"/>
          <p:cNvSpPr>
            <a:spLocks noGrp="1" noEditPoints="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noEditPoints="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noEditPoints="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noEditPoints="1"/>
          </p:cNvSpPr>
          <p:nvPr>
            <p:ph type="ftr" sz="quarter" idx="11"/>
          </p:nvPr>
        </p:nvSpPr>
        <p:spPr/>
        <p:txBody>
          <a:bodyPr/>
          <a:lstStyle/>
          <a:p>
            <a:endParaRPr lang="en-US"/>
          </a:p>
        </p:txBody>
      </p:sp>
      <p:sp>
        <p:nvSpPr>
          <p:cNvPr id="7" name="Slide Number Placeholder 6"/>
          <p:cNvSpPr>
            <a:spLocks noGrp="1" noEditPoints="1"/>
          </p:cNvSpPr>
          <p:nvPr>
            <p:ph type="sldNum" sz="quarter" idx="12"/>
          </p:nvPr>
        </p:nvSpPr>
        <p:spPr/>
        <p:txBody>
          <a:bodyPr/>
          <a:lstStyle/>
          <a:p>
            <a:fld id="{B6F15528-21DE-4FAA-801E-634DDDAF4B2B}"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endParaRPr lang="en-US"/>
          </a:p>
        </p:txBody>
      </p:sp>
      <p:sp>
        <p:nvSpPr>
          <p:cNvPr id="3" name="Text Placeholder 2"/>
          <p:cNvSpPr>
            <a:spLocks noGrp="1" noEditPoints="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noEditPoints="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noEditPoints="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noEditPoints="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noEditPoints="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noEditPoints="1"/>
          </p:cNvSpPr>
          <p:nvPr>
            <p:ph type="ftr" sz="quarter" idx="11"/>
          </p:nvPr>
        </p:nvSpPr>
        <p:spPr/>
        <p:txBody>
          <a:bodyPr/>
          <a:lstStyle/>
          <a:p>
            <a:endParaRPr lang="en-US"/>
          </a:p>
        </p:txBody>
      </p:sp>
      <p:sp>
        <p:nvSpPr>
          <p:cNvPr id="9" name="Slide Number Placeholder 8"/>
          <p:cNvSpPr>
            <a:spLocks noGrp="1" noEditPoints="1"/>
          </p:cNvSpPr>
          <p:nvPr>
            <p:ph type="sldNum" sz="quarter" idx="12"/>
          </p:nvPr>
        </p:nvSpPr>
        <p:spPr/>
        <p:txBody>
          <a:bodyPr/>
          <a:lstStyle/>
          <a:p>
            <a:fld id="{B6F15528-21DE-4FAA-801E-634DDDAF4B2B}"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endParaRPr lang="en-US"/>
          </a:p>
        </p:txBody>
      </p:sp>
      <p:sp>
        <p:nvSpPr>
          <p:cNvPr id="3" name="Date Placeholder 2"/>
          <p:cNvSpPr>
            <a:spLocks noGrp="1" noEditPoints="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noEditPoints="1"/>
          </p:cNvSpPr>
          <p:nvPr>
            <p:ph type="ftr" sz="quarter" idx="11"/>
          </p:nvPr>
        </p:nvSpPr>
        <p:spPr/>
        <p:txBody>
          <a:bodyPr/>
          <a:lstStyle/>
          <a:p>
            <a:endParaRPr lang="en-US"/>
          </a:p>
        </p:txBody>
      </p:sp>
      <p:sp>
        <p:nvSpPr>
          <p:cNvPr id="5" name="Slide Number Placeholder 4"/>
          <p:cNvSpPr>
            <a:spLocks noGrp="1" noEditPoints="1"/>
          </p:cNvSpPr>
          <p:nvPr>
            <p:ph type="sldNum" sz="quarter" idx="12"/>
          </p:nvPr>
        </p:nvSpPr>
        <p:spPr/>
        <p:txBody>
          <a:bodyPr/>
          <a:lstStyle/>
          <a:p>
            <a:fld id="{B6F15528-21DE-4FAA-801E-634DDDAF4B2B}"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noEditPoints="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noEditPoints="1"/>
          </p:cNvSpPr>
          <p:nvPr>
            <p:ph type="ftr" sz="quarter" idx="11"/>
          </p:nvPr>
        </p:nvSpPr>
        <p:spPr/>
        <p:txBody>
          <a:bodyPr/>
          <a:lstStyle/>
          <a:p>
            <a:endParaRPr lang="en-US"/>
          </a:p>
        </p:txBody>
      </p:sp>
      <p:sp>
        <p:nvSpPr>
          <p:cNvPr id="4" name="Slide Number Placeholder 3"/>
          <p:cNvSpPr>
            <a:spLocks noGrp="1" noEditPoints="1"/>
          </p:cNvSpPr>
          <p:nvPr>
            <p:ph type="sldNum" sz="quarter" idx="12"/>
          </p:nvPr>
        </p:nvSpPr>
        <p:spPr/>
        <p:txBody>
          <a:bodyPr/>
          <a:lstStyle/>
          <a:p>
            <a:fld id="{B6F15528-21DE-4FAA-801E-634DDDAF4B2B}"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noEditPoints="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noEditPoints="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noEditPoints="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noEditPoints="1"/>
          </p:cNvSpPr>
          <p:nvPr>
            <p:ph type="ftr" sz="quarter" idx="11"/>
          </p:nvPr>
        </p:nvSpPr>
        <p:spPr/>
        <p:txBody>
          <a:bodyPr/>
          <a:lstStyle/>
          <a:p>
            <a:endParaRPr lang="en-US"/>
          </a:p>
        </p:txBody>
      </p:sp>
      <p:sp>
        <p:nvSpPr>
          <p:cNvPr id="7" name="Slide Number Placeholder 6"/>
          <p:cNvSpPr>
            <a:spLocks noGrp="1" noEditPoints="1"/>
          </p:cNvSpPr>
          <p:nvPr>
            <p:ph type="sldNum" sz="quarter" idx="12"/>
          </p:nvPr>
        </p:nvSpPr>
        <p:spPr/>
        <p:txBody>
          <a:bodyPr/>
          <a:lstStyle/>
          <a:p>
            <a:fld id="{B6F15528-21DE-4FAA-801E-634DDDAF4B2B}"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noEditPoints="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a:p>
        </p:txBody>
      </p:sp>
      <p:sp>
        <p:nvSpPr>
          <p:cNvPr id="4" name="Text Placeholder 3"/>
          <p:cNvSpPr>
            <a:spLocks noGrp="1" noEditPoints="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noEditPoints="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noEditPoints="1"/>
          </p:cNvSpPr>
          <p:nvPr>
            <p:ph type="ftr" sz="quarter" idx="11"/>
          </p:nvPr>
        </p:nvSpPr>
        <p:spPr/>
        <p:txBody>
          <a:bodyPr/>
          <a:lstStyle/>
          <a:p>
            <a:endParaRPr lang="en-US"/>
          </a:p>
        </p:txBody>
      </p:sp>
      <p:sp>
        <p:nvSpPr>
          <p:cNvPr id="7" name="Slide Number Placeholder 6"/>
          <p:cNvSpPr>
            <a:spLocks noGrp="1" noEditPoints="1"/>
          </p:cNvSpPr>
          <p:nvPr>
            <p:ph type="sldNum" sz="quarter" idx="12"/>
          </p:nvPr>
        </p:nvSpPr>
        <p:spPr/>
        <p:txBody>
          <a:bodyPr/>
          <a:lstStyle/>
          <a:p>
            <a:fld id="{B6F15528-21DE-4FAA-801E-634DDDAF4B2B}"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endParaRPr lang="en-US"/>
          </a:p>
        </p:txBody>
      </p:sp>
      <p:sp>
        <p:nvSpPr>
          <p:cNvPr id="3" name="Vertical Text Placeholder 2"/>
          <p:cNvSpPr>
            <a:spLocks noGrp="1" noEditPoints="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noEditPoints="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noEditPoints="1"/>
          </p:cNvSpPr>
          <p:nvPr>
            <p:ph type="ftr" sz="quarter" idx="11"/>
          </p:nvPr>
        </p:nvSpPr>
        <p:spPr/>
        <p:txBody>
          <a:bodyPr/>
          <a:lstStyle/>
          <a:p>
            <a:endParaRPr lang="en-US"/>
          </a:p>
        </p:txBody>
      </p:sp>
      <p:sp>
        <p:nvSpPr>
          <p:cNvPr id="6" name="Slide Number Placeholder 5"/>
          <p:cNvSpPr>
            <a:spLocks noGrp="1" noEditPoints="1"/>
          </p:cNvSpPr>
          <p:nvPr>
            <p:ph type="sldNum" sz="quarter" idx="12"/>
          </p:nvPr>
        </p:nvSpPr>
        <p:spPr/>
        <p:txBody>
          <a:bodyPr/>
          <a:lstStyle/>
          <a:p>
            <a:fld id="{B6F15528-21DE-4FAA-801E-634DDDAF4B2B}"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noEditPoints="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noEditPoints="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noEditPoints="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noEditPoints="1"/>
          </p:cNvSpPr>
          <p:nvPr>
            <p:ph type="ftr" sz="quarter" idx="11"/>
          </p:nvPr>
        </p:nvSpPr>
        <p:spPr/>
        <p:txBody>
          <a:bodyPr/>
          <a:lstStyle/>
          <a:p>
            <a:endParaRPr lang="en-US"/>
          </a:p>
        </p:txBody>
      </p:sp>
      <p:sp>
        <p:nvSpPr>
          <p:cNvPr id="6" name="Slide Number Placeholder 5"/>
          <p:cNvSpPr>
            <a:spLocks noGrp="1" noEditPoints="1"/>
          </p:cNvSpPr>
          <p:nvPr>
            <p:ph type="sldNum" sz="quarter" idx="12"/>
          </p:nvPr>
        </p:nvSpPr>
        <p:spPr/>
        <p:txBody>
          <a:bodyPr/>
          <a:lstStyle/>
          <a:p>
            <a:fld id="{B6F15528-21DE-4FAA-801E-634DDDAF4B2B}"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noEditPoints="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noEditPoints="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noEditPoints="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noEditPoints="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noEditPoints="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02759" y="6802807"/>
            <a:ext cx="5402508" cy="540250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txBody>
            <a:bodyPr/>
            <a:lstStyle/>
            <a:p>
              <a:endParaRPr lang="en-US"/>
            </a:p>
          </p:txBody>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2480"/>
                </a:lnSpc>
              </a:pPr>
              <a:endParaRPr dirty="0"/>
            </a:p>
          </p:txBody>
        </p:sp>
      </p:grpSp>
      <p:sp>
        <p:nvSpPr>
          <p:cNvPr id="5" name="AutoShape 5"/>
          <p:cNvSpPr/>
          <p:nvPr/>
        </p:nvSpPr>
        <p:spPr>
          <a:xfrm>
            <a:off x="1074658" y="8563446"/>
            <a:ext cx="16138684" cy="0"/>
          </a:xfrm>
          <a:prstGeom prst="line">
            <a:avLst/>
          </a:prstGeom>
          <a:ln w="38100" cap="flat">
            <a:solidFill>
              <a:srgbClr val="17726D"/>
            </a:solidFill>
            <a:prstDash val="solid"/>
            <a:headEnd type="none" w="sm" len="sm"/>
            <a:tailEnd type="none" w="sm" len="sm"/>
          </a:ln>
        </p:spPr>
        <p:txBody>
          <a:bodyPr/>
          <a:lstStyle/>
          <a:p>
            <a:endParaRPr lang="en-US"/>
          </a:p>
        </p:txBody>
      </p:sp>
      <p:grpSp>
        <p:nvGrpSpPr>
          <p:cNvPr id="6" name="Group 6"/>
          <p:cNvGrpSpPr/>
          <p:nvPr/>
        </p:nvGrpSpPr>
        <p:grpSpPr>
          <a:xfrm>
            <a:off x="15098382" y="1402521"/>
            <a:ext cx="2701422" cy="2904058"/>
            <a:chOff x="0" y="0"/>
            <a:chExt cx="812800" cy="812800"/>
          </a:xfrm>
          <a:solidFill>
            <a:schemeClr val="tx1"/>
          </a:solidFill>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pFill/>
          </p:spPr>
          <p:txBody>
            <a:bodyPr/>
            <a:lstStyle/>
            <a:p>
              <a:endParaRPr lang="en-US"/>
            </a:p>
          </p:txBody>
        </p:sp>
        <p:sp>
          <p:nvSpPr>
            <p:cNvPr id="8" name="TextBox 8"/>
            <p:cNvSpPr txBox="1"/>
            <p:nvPr/>
          </p:nvSpPr>
          <p:spPr>
            <a:xfrm>
              <a:off x="76200" y="28575"/>
              <a:ext cx="660400" cy="708025"/>
            </a:xfrm>
            <a:prstGeom prst="rect">
              <a:avLst/>
            </a:prstGeom>
            <a:grpFill/>
          </p:spPr>
          <p:txBody>
            <a:bodyPr lIns="50800" tIns="50800" rIns="50800" bIns="50800" rtlCol="0" anchor="ctr"/>
            <a:lstStyle/>
            <a:p>
              <a:pPr algn="ctr">
                <a:lnSpc>
                  <a:spcPts val="2480"/>
                </a:lnSpc>
              </a:pPr>
              <a:endParaRPr dirty="0"/>
            </a:p>
          </p:txBody>
        </p:sp>
      </p:grpSp>
      <p:sp>
        <p:nvSpPr>
          <p:cNvPr id="10" name="Freeform 10"/>
          <p:cNvSpPr/>
          <p:nvPr/>
        </p:nvSpPr>
        <p:spPr>
          <a:xfrm>
            <a:off x="1074658" y="6591300"/>
            <a:ext cx="447675" cy="447675"/>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noFill/>
        </p:spPr>
        <p:txBody>
          <a:bodyPr/>
          <a:lstStyle/>
          <a:p>
            <a:endParaRPr lang="en-US"/>
          </a:p>
        </p:txBody>
      </p:sp>
      <p:grpSp>
        <p:nvGrpSpPr>
          <p:cNvPr id="13" name="Group 13"/>
          <p:cNvGrpSpPr/>
          <p:nvPr/>
        </p:nvGrpSpPr>
        <p:grpSpPr>
          <a:xfrm>
            <a:off x="15972039" y="656036"/>
            <a:ext cx="1241303" cy="575606"/>
            <a:chOff x="0" y="0"/>
            <a:chExt cx="326928" cy="151600"/>
          </a:xfrm>
          <a:solidFill>
            <a:schemeClr val="tx1"/>
          </a:solidFill>
        </p:grpSpPr>
        <p:sp>
          <p:nvSpPr>
            <p:cNvPr id="14" name="Freeform 14"/>
            <p:cNvSpPr/>
            <p:nvPr/>
          </p:nvSpPr>
          <p:spPr>
            <a:xfrm>
              <a:off x="0" y="0"/>
              <a:ext cx="326928" cy="151600"/>
            </a:xfrm>
            <a:custGeom>
              <a:avLst/>
              <a:gdLst/>
              <a:ahLst/>
              <a:cxnLst/>
              <a:rect l="l" t="t" r="r" b="b"/>
              <a:pathLst>
                <a:path w="326928" h="151600">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grpFill/>
          </p:spPr>
          <p:txBody>
            <a:bodyPr/>
            <a:lstStyle/>
            <a:p>
              <a:endParaRPr lang="en-US"/>
            </a:p>
          </p:txBody>
        </p:sp>
        <p:sp>
          <p:nvSpPr>
            <p:cNvPr id="15" name="TextBox 15"/>
            <p:cNvSpPr txBox="1"/>
            <p:nvPr/>
          </p:nvSpPr>
          <p:spPr>
            <a:xfrm>
              <a:off x="0" y="-47625"/>
              <a:ext cx="326928" cy="199225"/>
            </a:xfrm>
            <a:prstGeom prst="rect">
              <a:avLst/>
            </a:prstGeom>
            <a:grpFill/>
          </p:spPr>
          <p:txBody>
            <a:bodyPr lIns="50800" tIns="50800" rIns="50800" bIns="50800" rtlCol="0" anchor="ctr"/>
            <a:lstStyle/>
            <a:p>
              <a:pPr algn="ctr">
                <a:lnSpc>
                  <a:spcPts val="2480"/>
                </a:lnSpc>
              </a:pPr>
              <a:endParaRPr dirty="0"/>
            </a:p>
          </p:txBody>
        </p:sp>
      </p:grpSp>
      <p:sp>
        <p:nvSpPr>
          <p:cNvPr id="16" name="Freeform 16"/>
          <p:cNvSpPr/>
          <p:nvPr/>
        </p:nvSpPr>
        <p:spPr>
          <a:xfrm>
            <a:off x="16275918" y="793769"/>
            <a:ext cx="633545" cy="300142"/>
          </a:xfrm>
          <a:custGeom>
            <a:avLst/>
            <a:gdLst/>
            <a:ahLst/>
            <a:cxnLst/>
            <a:rect l="l" t="t" r="r" b="b"/>
            <a:pathLst>
              <a:path w="633545" h="300142">
                <a:moveTo>
                  <a:pt x="0" y="0"/>
                </a:moveTo>
                <a:lnTo>
                  <a:pt x="633545" y="0"/>
                </a:lnTo>
                <a:lnTo>
                  <a:pt x="633545" y="300141"/>
                </a:lnTo>
                <a:lnTo>
                  <a:pt x="0" y="300141"/>
                </a:lnTo>
                <a:lnTo>
                  <a:pt x="0" y="0"/>
                </a:lnTo>
                <a:close/>
              </a:path>
            </a:pathLst>
          </a:custGeom>
          <a:blipFill>
            <a:blip r:embed="rId1"/>
            <a:srcRect/>
            <a:stretch>
              <a:fillRect/>
            </a:stretch>
          </a:blipFill>
        </p:spPr>
        <p:txBody>
          <a:bodyPr/>
          <a:lstStyle/>
          <a:p>
            <a:endParaRPr lang="en-US"/>
          </a:p>
        </p:txBody>
      </p:sp>
      <p:sp>
        <p:nvSpPr>
          <p:cNvPr id="18" name="TextBox 18"/>
          <p:cNvSpPr txBox="1"/>
          <p:nvPr/>
        </p:nvSpPr>
        <p:spPr>
          <a:xfrm>
            <a:off x="1074658" y="9213231"/>
            <a:ext cx="2012164" cy="317500"/>
          </a:xfrm>
          <a:prstGeom prst="rect">
            <a:avLst/>
          </a:prstGeom>
        </p:spPr>
        <p:txBody>
          <a:bodyPr lIns="0" tIns="0" rIns="0" bIns="0" rtlCol="0" anchor="t">
            <a:spAutoFit/>
          </a:bodyPr>
          <a:lstStyle/>
          <a:p>
            <a:pPr marL="0" indent="0" algn="just">
              <a:lnSpc>
                <a:spcPts val="2480"/>
              </a:lnSpc>
            </a:pPr>
            <a:r>
              <a:rPr lang="en-US" sz="1600" dirty="0">
                <a:solidFill>
                  <a:srgbClr val="000000"/>
                </a:solidFill>
                <a:latin typeface="Open Sans Medium"/>
              </a:rPr>
              <a:t> 0775732749</a:t>
            </a:r>
            <a:endParaRPr lang="en-US" sz="1600" dirty="0">
              <a:solidFill>
                <a:srgbClr val="000000"/>
              </a:solidFill>
              <a:latin typeface="Open Sans Medium"/>
            </a:endParaRPr>
          </a:p>
        </p:txBody>
      </p:sp>
      <p:sp>
        <p:nvSpPr>
          <p:cNvPr id="19" name="TextBox 19"/>
          <p:cNvSpPr txBox="1"/>
          <p:nvPr/>
        </p:nvSpPr>
        <p:spPr>
          <a:xfrm>
            <a:off x="1074658" y="8881603"/>
            <a:ext cx="2012164" cy="290830"/>
          </a:xfrm>
          <a:prstGeom prst="rect">
            <a:avLst/>
          </a:prstGeom>
        </p:spPr>
        <p:txBody>
          <a:bodyPr lIns="0" tIns="0" rIns="0" bIns="0" rtlCol="0" anchor="t">
            <a:spAutoFit/>
          </a:bodyPr>
          <a:lstStyle/>
          <a:p>
            <a:pPr marL="0" indent="0" algn="just">
              <a:lnSpc>
                <a:spcPts val="2480"/>
              </a:lnSpc>
            </a:pPr>
            <a:r>
              <a:rPr lang="en-US" sz="1600" dirty="0">
                <a:solidFill>
                  <a:srgbClr val="000000"/>
                </a:solidFill>
                <a:latin typeface="Open Sans Bold"/>
              </a:rPr>
              <a:t>Telephone</a:t>
            </a:r>
            <a:endParaRPr lang="en-US" sz="1600" dirty="0">
              <a:solidFill>
                <a:srgbClr val="000000"/>
              </a:solidFill>
              <a:latin typeface="Open Sans Bold"/>
            </a:endParaRPr>
          </a:p>
        </p:txBody>
      </p:sp>
      <p:sp>
        <p:nvSpPr>
          <p:cNvPr id="21" name="TextBox 21"/>
          <p:cNvSpPr txBox="1"/>
          <p:nvPr/>
        </p:nvSpPr>
        <p:spPr>
          <a:xfrm>
            <a:off x="6824763" y="9213231"/>
            <a:ext cx="2868747" cy="317500"/>
          </a:xfrm>
          <a:prstGeom prst="rect">
            <a:avLst/>
          </a:prstGeom>
        </p:spPr>
        <p:txBody>
          <a:bodyPr lIns="0" tIns="0" rIns="0" bIns="0" rtlCol="0" anchor="t">
            <a:spAutoFit/>
          </a:bodyPr>
          <a:lstStyle/>
          <a:p>
            <a:pPr marL="0" indent="0" algn="just">
              <a:lnSpc>
                <a:spcPts val="2480"/>
              </a:lnSpc>
            </a:pPr>
            <a:r>
              <a:rPr lang="en-US" sz="1600" dirty="0">
                <a:solidFill>
                  <a:srgbClr val="000000"/>
                </a:solidFill>
                <a:latin typeface="Open Sans"/>
              </a:rPr>
              <a:t>[  ink]</a:t>
            </a:r>
            <a:endParaRPr lang="en-US" sz="1600" dirty="0">
              <a:solidFill>
                <a:srgbClr val="000000"/>
              </a:solidFill>
              <a:latin typeface="Open Sans"/>
            </a:endParaRPr>
          </a:p>
        </p:txBody>
      </p:sp>
      <p:sp>
        <p:nvSpPr>
          <p:cNvPr id="22" name="TextBox 22"/>
          <p:cNvSpPr txBox="1"/>
          <p:nvPr/>
        </p:nvSpPr>
        <p:spPr>
          <a:xfrm>
            <a:off x="3575225" y="8881603"/>
            <a:ext cx="2725663" cy="290830"/>
          </a:xfrm>
          <a:prstGeom prst="rect">
            <a:avLst/>
          </a:prstGeom>
        </p:spPr>
        <p:txBody>
          <a:bodyPr lIns="0" tIns="0" rIns="0" bIns="0" rtlCol="0" anchor="t">
            <a:spAutoFit/>
          </a:bodyPr>
          <a:lstStyle/>
          <a:p>
            <a:pPr marL="0" indent="0" algn="just">
              <a:lnSpc>
                <a:spcPts val="2480"/>
              </a:lnSpc>
            </a:pPr>
            <a:r>
              <a:rPr lang="en-US" sz="1600">
                <a:solidFill>
                  <a:srgbClr val="000000"/>
                </a:solidFill>
                <a:latin typeface="Open Sans Bold"/>
              </a:rPr>
              <a:t>Address</a:t>
            </a:r>
            <a:endParaRPr lang="en-US" sz="1600">
              <a:solidFill>
                <a:srgbClr val="000000"/>
              </a:solidFill>
              <a:latin typeface="Open Sans Bold"/>
            </a:endParaRPr>
          </a:p>
        </p:txBody>
      </p:sp>
      <p:sp>
        <p:nvSpPr>
          <p:cNvPr id="23" name="TextBox 23"/>
          <p:cNvSpPr txBox="1"/>
          <p:nvPr/>
        </p:nvSpPr>
        <p:spPr>
          <a:xfrm>
            <a:off x="6824763" y="8881603"/>
            <a:ext cx="2868747" cy="290830"/>
          </a:xfrm>
          <a:prstGeom prst="rect">
            <a:avLst/>
          </a:prstGeom>
        </p:spPr>
        <p:txBody>
          <a:bodyPr lIns="0" tIns="0" rIns="0" bIns="0" rtlCol="0" anchor="t">
            <a:spAutoFit/>
          </a:bodyPr>
          <a:lstStyle/>
          <a:p>
            <a:pPr marL="0" indent="0" algn="just">
              <a:lnSpc>
                <a:spcPts val="2480"/>
              </a:lnSpc>
            </a:pPr>
            <a:r>
              <a:rPr lang="en-US" sz="1600" dirty="0">
                <a:solidFill>
                  <a:srgbClr val="000000"/>
                </a:solidFill>
                <a:latin typeface="Open Sans Bold"/>
              </a:rPr>
              <a:t>Website</a:t>
            </a:r>
            <a:endParaRPr lang="en-US" sz="1600" dirty="0">
              <a:solidFill>
                <a:srgbClr val="000000"/>
              </a:solidFill>
              <a:latin typeface="Open Sans Bold"/>
            </a:endParaRPr>
          </a:p>
        </p:txBody>
      </p:sp>
      <p:sp>
        <p:nvSpPr>
          <p:cNvPr id="31" name="TextBox 17"/>
          <p:cNvSpPr txBox="1"/>
          <p:nvPr/>
        </p:nvSpPr>
        <p:spPr>
          <a:xfrm flipH="1">
            <a:off x="1029422" y="475210"/>
            <a:ext cx="4114800" cy="2289153"/>
          </a:xfrm>
          <a:prstGeom prst="rect">
            <a:avLst/>
          </a:prstGeom>
        </p:spPr>
        <p:txBody>
          <a:bodyPr wrap="square" lIns="0" tIns="0" rIns="0" bIns="0" rtlCol="0" anchor="t">
            <a:spAutoFit/>
          </a:bodyPr>
          <a:lstStyle/>
          <a:p>
            <a:pPr algn="ctr">
              <a:lnSpc>
                <a:spcPts val="21875"/>
              </a:lnSpc>
            </a:pPr>
            <a:r>
              <a:rPr lang="en-US" sz="5400" dirty="0">
                <a:latin typeface="Inter Bold"/>
              </a:rPr>
              <a:t>PITCH DECK</a:t>
            </a:r>
            <a:endParaRPr lang="en-US" sz="5400" dirty="0">
              <a:latin typeface="Inter Bold"/>
            </a:endParaRPr>
          </a:p>
        </p:txBody>
      </p:sp>
      <p:sp>
        <p:nvSpPr>
          <p:cNvPr id="9" name="Text Box 8"/>
          <p:cNvSpPr txBox="1"/>
          <p:nvPr/>
        </p:nvSpPr>
        <p:spPr>
          <a:xfrm>
            <a:off x="8573770" y="10678160"/>
            <a:ext cx="6096000" cy="368300"/>
          </a:xfrm>
          <a:prstGeom prst="rect">
            <a:avLst/>
          </a:prstGeom>
          <a:noFill/>
        </p:spPr>
        <p:txBody>
          <a:bodyPr wrap="square" rtlCol="0">
            <a:spAutoFit/>
          </a:bodyPr>
          <a:p>
            <a:r>
              <a:rPr lang="en-US" altLang="en-GB"/>
              <a:t>                             </a:t>
            </a:r>
            <a:endParaRPr lang="en-US" alt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634610" y="0"/>
            <a:ext cx="5653390" cy="10287000"/>
            <a:chOff x="0" y="0"/>
            <a:chExt cx="1488959" cy="2709333"/>
          </a:xfrm>
        </p:grpSpPr>
        <p:sp>
          <p:nvSpPr>
            <p:cNvPr id="3" name="Freeform 3"/>
            <p:cNvSpPr/>
            <p:nvPr/>
          </p:nvSpPr>
          <p:spPr>
            <a:xfrm>
              <a:off x="0" y="0"/>
              <a:ext cx="1488959" cy="2709333"/>
            </a:xfrm>
            <a:custGeom>
              <a:avLst/>
              <a:gdLst/>
              <a:ahLst/>
              <a:cxnLst/>
              <a:rect l="l" t="t" r="r" b="b"/>
              <a:pathLst>
                <a:path w="1488959" h="2709333">
                  <a:moveTo>
                    <a:pt x="0" y="0"/>
                  </a:moveTo>
                  <a:lnTo>
                    <a:pt x="1488959" y="0"/>
                  </a:lnTo>
                  <a:lnTo>
                    <a:pt x="1488959" y="2709333"/>
                  </a:lnTo>
                  <a:lnTo>
                    <a:pt x="0" y="2709333"/>
                  </a:lnTo>
                  <a:lnTo>
                    <a:pt x="0" y="0"/>
                  </a:lnTo>
                  <a:close/>
                </a:path>
              </a:pathLst>
            </a:custGeom>
            <a:solidFill>
              <a:srgbClr val="F6F6F6"/>
            </a:solidFill>
          </p:spPr>
          <p:txBody>
            <a:bodyPr/>
            <a:lstStyle/>
            <a:p>
              <a:endParaRPr lang="en-US"/>
            </a:p>
          </p:txBody>
        </p:sp>
        <p:sp>
          <p:nvSpPr>
            <p:cNvPr id="4" name="TextBox 4"/>
            <p:cNvSpPr txBox="1"/>
            <p:nvPr/>
          </p:nvSpPr>
          <p:spPr>
            <a:xfrm>
              <a:off x="0" y="-47625"/>
              <a:ext cx="1488959" cy="2756958"/>
            </a:xfrm>
            <a:prstGeom prst="rect">
              <a:avLst/>
            </a:prstGeom>
          </p:spPr>
          <p:txBody>
            <a:bodyPr lIns="50800" tIns="50800" rIns="50800" bIns="50800" rtlCol="0" anchor="ctr"/>
            <a:lstStyle/>
            <a:p>
              <a:pPr algn="ctr">
                <a:lnSpc>
                  <a:spcPts val="2480"/>
                </a:lnSpc>
              </a:pPr>
            </a:p>
          </p:txBody>
        </p:sp>
      </p:grpSp>
      <p:grpSp>
        <p:nvGrpSpPr>
          <p:cNvPr id="7" name="Group 7"/>
          <p:cNvGrpSpPr/>
          <p:nvPr/>
        </p:nvGrpSpPr>
        <p:grpSpPr>
          <a:xfrm>
            <a:off x="839945" y="2796715"/>
            <a:ext cx="877649" cy="87764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E4D2"/>
            </a:solidFill>
          </p:spPr>
          <p:txBody>
            <a:bodyPr/>
            <a:lstStyle/>
            <a:p>
              <a:endParaRPr lang="en-US"/>
            </a:p>
          </p:txBody>
        </p:sp>
        <p:sp>
          <p:nvSpPr>
            <p:cNvPr id="9" name="TextBox 9"/>
            <p:cNvSpPr txBox="1"/>
            <p:nvPr/>
          </p:nvSpPr>
          <p:spPr>
            <a:xfrm>
              <a:off x="76200" y="19050"/>
              <a:ext cx="660400" cy="717550"/>
            </a:xfrm>
            <a:prstGeom prst="rect">
              <a:avLst/>
            </a:prstGeom>
          </p:spPr>
          <p:txBody>
            <a:bodyPr lIns="44470" tIns="44470" rIns="44470" bIns="44470" rtlCol="0" anchor="ctr"/>
            <a:lstStyle/>
            <a:p>
              <a:pPr algn="ctr">
                <a:lnSpc>
                  <a:spcPts val="4200"/>
                </a:lnSpc>
              </a:pPr>
              <a:r>
                <a:rPr lang="en-US" sz="3000" dirty="0">
                  <a:solidFill>
                    <a:srgbClr val="055594"/>
                  </a:solidFill>
                  <a:latin typeface="Inter Bold"/>
                </a:rPr>
                <a:t>01</a:t>
              </a:r>
              <a:endParaRPr lang="en-US" sz="3000" dirty="0">
                <a:solidFill>
                  <a:srgbClr val="055594"/>
                </a:solidFill>
                <a:latin typeface="Inter Bold"/>
              </a:endParaRPr>
            </a:p>
          </p:txBody>
        </p:sp>
      </p:grpSp>
      <p:grpSp>
        <p:nvGrpSpPr>
          <p:cNvPr id="10" name="Group 10"/>
          <p:cNvGrpSpPr/>
          <p:nvPr/>
        </p:nvGrpSpPr>
        <p:grpSpPr>
          <a:xfrm>
            <a:off x="753901" y="6763199"/>
            <a:ext cx="877649" cy="877649"/>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E4D2"/>
            </a:solidFill>
          </p:spPr>
          <p:txBody>
            <a:bodyPr/>
            <a:lstStyle/>
            <a:p>
              <a:endParaRPr lang="en-US" dirty="0"/>
            </a:p>
            <a:p>
              <a:r>
                <a:rPr lang="en-US" dirty="0"/>
                <a:t>  </a:t>
              </a:r>
              <a:r>
                <a:rPr lang="en-US" b="1" dirty="0">
                  <a:solidFill>
                    <a:srgbClr val="FFC000"/>
                  </a:solidFill>
                  <a:latin typeface="Bahnschrift SemiBold" panose="020B0502040204020203" pitchFamily="34" charset="0"/>
                </a:rPr>
                <a:t>NOTE</a:t>
              </a:r>
              <a:endParaRPr lang="en-US" b="1" dirty="0">
                <a:solidFill>
                  <a:srgbClr val="FFC000"/>
                </a:solidFill>
                <a:latin typeface="Bahnschrift SemiBold" panose="020B0502040204020203" pitchFamily="34" charset="0"/>
              </a:endParaRPr>
            </a:p>
          </p:txBody>
        </p:sp>
        <p:sp>
          <p:nvSpPr>
            <p:cNvPr id="12" name="TextBox 12"/>
            <p:cNvSpPr txBox="1"/>
            <p:nvPr/>
          </p:nvSpPr>
          <p:spPr>
            <a:xfrm>
              <a:off x="76200" y="19050"/>
              <a:ext cx="660400" cy="717550"/>
            </a:xfrm>
            <a:prstGeom prst="rect">
              <a:avLst/>
            </a:prstGeom>
          </p:spPr>
          <p:txBody>
            <a:bodyPr lIns="44470" tIns="44470" rIns="44470" bIns="44470" rtlCol="0" anchor="ctr"/>
            <a:lstStyle/>
            <a:p>
              <a:pPr algn="ctr">
                <a:lnSpc>
                  <a:spcPts val="4200"/>
                </a:lnSpc>
              </a:pPr>
              <a:endParaRPr lang="en-US" sz="3000" dirty="0">
                <a:solidFill>
                  <a:srgbClr val="055594"/>
                </a:solidFill>
                <a:latin typeface="Inter Bold"/>
              </a:endParaRPr>
            </a:p>
          </p:txBody>
        </p:sp>
      </p:grpSp>
      <p:grpSp>
        <p:nvGrpSpPr>
          <p:cNvPr id="16" name="Group 16"/>
          <p:cNvGrpSpPr/>
          <p:nvPr/>
        </p:nvGrpSpPr>
        <p:grpSpPr>
          <a:xfrm>
            <a:off x="17400866" y="0"/>
            <a:ext cx="863406" cy="1914819"/>
            <a:chOff x="0" y="0"/>
            <a:chExt cx="227399" cy="504314"/>
          </a:xfrm>
          <a:solidFill>
            <a:srgbClr val="055594"/>
          </a:solidFill>
        </p:grpSpPr>
        <p:sp>
          <p:nvSpPr>
            <p:cNvPr id="17" name="Freeform 17"/>
            <p:cNvSpPr/>
            <p:nvPr/>
          </p:nvSpPr>
          <p:spPr>
            <a:xfrm>
              <a:off x="0" y="0"/>
              <a:ext cx="227399" cy="504314"/>
            </a:xfrm>
            <a:custGeom>
              <a:avLst/>
              <a:gdLst/>
              <a:ahLst/>
              <a:cxnLst/>
              <a:rect l="l" t="t" r="r" b="b"/>
              <a:pathLst>
                <a:path w="227399" h="504314">
                  <a:moveTo>
                    <a:pt x="0" y="0"/>
                  </a:moveTo>
                  <a:lnTo>
                    <a:pt x="227399" y="0"/>
                  </a:lnTo>
                  <a:lnTo>
                    <a:pt x="227399" y="504314"/>
                  </a:lnTo>
                  <a:lnTo>
                    <a:pt x="0" y="504314"/>
                  </a:lnTo>
                  <a:lnTo>
                    <a:pt x="0" y="0"/>
                  </a:lnTo>
                  <a:close/>
                </a:path>
              </a:pathLst>
            </a:custGeom>
            <a:grpFill/>
          </p:spPr>
          <p:txBody>
            <a:bodyPr/>
            <a:lstStyle/>
            <a:p>
              <a:endParaRPr lang="en-US"/>
            </a:p>
          </p:txBody>
        </p:sp>
        <p:sp>
          <p:nvSpPr>
            <p:cNvPr id="18" name="TextBox 18"/>
            <p:cNvSpPr txBox="1"/>
            <p:nvPr/>
          </p:nvSpPr>
          <p:spPr>
            <a:xfrm>
              <a:off x="0" y="-47625"/>
              <a:ext cx="227399" cy="551939"/>
            </a:xfrm>
            <a:prstGeom prst="rect">
              <a:avLst/>
            </a:prstGeom>
            <a:grpFill/>
          </p:spPr>
          <p:txBody>
            <a:bodyPr lIns="50800" tIns="50800" rIns="50800" bIns="50800" rtlCol="0" anchor="ctr"/>
            <a:lstStyle/>
            <a:p>
              <a:pPr algn="ctr">
                <a:lnSpc>
                  <a:spcPts val="2480"/>
                </a:lnSpc>
              </a:pPr>
            </a:p>
          </p:txBody>
        </p:sp>
      </p:grpSp>
      <p:grpSp>
        <p:nvGrpSpPr>
          <p:cNvPr id="19" name="Group 19"/>
          <p:cNvGrpSpPr/>
          <p:nvPr/>
        </p:nvGrpSpPr>
        <p:grpSpPr>
          <a:xfrm>
            <a:off x="-1061650" y="8036778"/>
            <a:ext cx="3803190" cy="3803190"/>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txBody>
            <a:bodyPr/>
            <a:lstStyle/>
            <a:p>
              <a:endParaRPr lang="en-US"/>
            </a:p>
          </p:txBody>
        </p:sp>
        <p:sp>
          <p:nvSpPr>
            <p:cNvPr id="21" name="TextBox 21"/>
            <p:cNvSpPr txBox="1"/>
            <p:nvPr/>
          </p:nvSpPr>
          <p:spPr>
            <a:xfrm>
              <a:off x="76200" y="28575"/>
              <a:ext cx="660400" cy="708025"/>
            </a:xfrm>
            <a:prstGeom prst="rect">
              <a:avLst/>
            </a:prstGeom>
          </p:spPr>
          <p:txBody>
            <a:bodyPr lIns="50800" tIns="50800" rIns="50800" bIns="50800" rtlCol="0" anchor="ctr"/>
            <a:lstStyle/>
            <a:p>
              <a:pPr algn="ctr">
                <a:lnSpc>
                  <a:spcPts val="2480"/>
                </a:lnSpc>
              </a:pPr>
            </a:p>
          </p:txBody>
        </p:sp>
      </p:grpSp>
      <p:grpSp>
        <p:nvGrpSpPr>
          <p:cNvPr id="22" name="Group 22"/>
          <p:cNvGrpSpPr/>
          <p:nvPr/>
        </p:nvGrpSpPr>
        <p:grpSpPr>
          <a:xfrm>
            <a:off x="0" y="10094695"/>
            <a:ext cx="18264272" cy="192305"/>
            <a:chOff x="0" y="0"/>
            <a:chExt cx="4810343" cy="50648"/>
          </a:xfrm>
          <a:solidFill>
            <a:srgbClr val="055594"/>
          </a:solidFill>
        </p:grpSpPr>
        <p:sp>
          <p:nvSpPr>
            <p:cNvPr id="23" name="Freeform 23"/>
            <p:cNvSpPr/>
            <p:nvPr/>
          </p:nvSpPr>
          <p:spPr>
            <a:xfrm>
              <a:off x="0" y="0"/>
              <a:ext cx="4810343" cy="50648"/>
            </a:xfrm>
            <a:custGeom>
              <a:avLst/>
              <a:gdLst/>
              <a:ahLst/>
              <a:cxnLst/>
              <a:rect l="l" t="t" r="r" b="b"/>
              <a:pathLst>
                <a:path w="4810343" h="50648">
                  <a:moveTo>
                    <a:pt x="0" y="0"/>
                  </a:moveTo>
                  <a:lnTo>
                    <a:pt x="4810343" y="0"/>
                  </a:lnTo>
                  <a:lnTo>
                    <a:pt x="4810343" y="50648"/>
                  </a:lnTo>
                  <a:lnTo>
                    <a:pt x="0" y="50648"/>
                  </a:lnTo>
                  <a:lnTo>
                    <a:pt x="0" y="0"/>
                  </a:lnTo>
                  <a:close/>
                </a:path>
              </a:pathLst>
            </a:custGeom>
            <a:grpFill/>
          </p:spPr>
          <p:txBody>
            <a:bodyPr/>
            <a:lstStyle/>
            <a:p>
              <a:endParaRPr lang="en-US"/>
            </a:p>
          </p:txBody>
        </p:sp>
        <p:sp>
          <p:nvSpPr>
            <p:cNvPr id="24" name="TextBox 24"/>
            <p:cNvSpPr txBox="1"/>
            <p:nvPr/>
          </p:nvSpPr>
          <p:spPr>
            <a:xfrm>
              <a:off x="0" y="-47625"/>
              <a:ext cx="4810343" cy="98273"/>
            </a:xfrm>
            <a:prstGeom prst="rect">
              <a:avLst/>
            </a:prstGeom>
            <a:grpFill/>
          </p:spPr>
          <p:txBody>
            <a:bodyPr lIns="50800" tIns="50800" rIns="50800" bIns="50800" rtlCol="0" anchor="ctr"/>
            <a:lstStyle/>
            <a:p>
              <a:pPr algn="ctr">
                <a:lnSpc>
                  <a:spcPts val="2480"/>
                </a:lnSpc>
              </a:pPr>
            </a:p>
          </p:txBody>
        </p:sp>
      </p:grpSp>
      <p:sp>
        <p:nvSpPr>
          <p:cNvPr id="25" name="TextBox 25"/>
          <p:cNvSpPr txBox="1"/>
          <p:nvPr/>
        </p:nvSpPr>
        <p:spPr>
          <a:xfrm>
            <a:off x="839945" y="552744"/>
            <a:ext cx="7149728" cy="994410"/>
          </a:xfrm>
          <a:prstGeom prst="rect">
            <a:avLst/>
          </a:prstGeom>
        </p:spPr>
        <p:txBody>
          <a:bodyPr lIns="0" tIns="0" rIns="0" bIns="0" rtlCol="0" anchor="t">
            <a:spAutoFit/>
          </a:bodyPr>
          <a:lstStyle/>
          <a:p>
            <a:pPr>
              <a:lnSpc>
                <a:spcPts val="7560"/>
              </a:lnSpc>
            </a:pPr>
            <a:r>
              <a:rPr lang="en-US" sz="7200" dirty="0">
                <a:solidFill>
                  <a:srgbClr val="055594"/>
                </a:solidFill>
                <a:latin typeface="Inter Bold"/>
              </a:rPr>
              <a:t>PROBLEMS</a:t>
            </a:r>
            <a:endParaRPr lang="en-US" sz="7200" dirty="0">
              <a:solidFill>
                <a:srgbClr val="055594"/>
              </a:solidFill>
              <a:latin typeface="Inter Bold"/>
            </a:endParaRPr>
          </a:p>
        </p:txBody>
      </p:sp>
      <p:sp>
        <p:nvSpPr>
          <p:cNvPr id="26" name="TextBox 26"/>
          <p:cNvSpPr txBox="1"/>
          <p:nvPr/>
        </p:nvSpPr>
        <p:spPr>
          <a:xfrm>
            <a:off x="839945" y="1518579"/>
            <a:ext cx="6818840" cy="396240"/>
          </a:xfrm>
          <a:prstGeom prst="rect">
            <a:avLst/>
          </a:prstGeom>
        </p:spPr>
        <p:txBody>
          <a:bodyPr lIns="0" tIns="0" rIns="0" bIns="0" rtlCol="0" anchor="t">
            <a:spAutoFit/>
          </a:bodyPr>
          <a:lstStyle/>
          <a:p>
            <a:pPr marL="0" indent="0">
              <a:lnSpc>
                <a:spcPts val="3360"/>
              </a:lnSpc>
            </a:pPr>
            <a:r>
              <a:rPr lang="en-US" sz="2400" spc="177">
                <a:solidFill>
                  <a:srgbClr val="000000"/>
                </a:solidFill>
                <a:latin typeface="Open Sans Bold"/>
              </a:rPr>
              <a:t>WE WILL SOLVE THE PROBLEMS</a:t>
            </a:r>
            <a:endParaRPr lang="en-US" sz="2400" spc="177">
              <a:solidFill>
                <a:srgbClr val="000000"/>
              </a:solidFill>
              <a:latin typeface="Open Sans Bold"/>
            </a:endParaRPr>
          </a:p>
        </p:txBody>
      </p:sp>
      <p:sp>
        <p:nvSpPr>
          <p:cNvPr id="27" name="TextBox 27"/>
          <p:cNvSpPr txBox="1"/>
          <p:nvPr/>
        </p:nvSpPr>
        <p:spPr>
          <a:xfrm>
            <a:off x="1925690" y="2982911"/>
            <a:ext cx="4877173" cy="5332095"/>
          </a:xfrm>
          <a:prstGeom prst="rect">
            <a:avLst/>
          </a:prstGeom>
        </p:spPr>
        <p:txBody>
          <a:bodyPr lIns="0" tIns="0" rIns="0" bIns="0" rtlCol="0" anchor="t">
            <a:spAutoFit/>
          </a:bodyPr>
          <a:lstStyle/>
          <a:p>
            <a:pPr>
              <a:lnSpc>
                <a:spcPts val="3780"/>
              </a:lnSpc>
            </a:pPr>
            <a:r>
              <a:rPr lang="en-US" sz="2700" dirty="0">
                <a:solidFill>
                  <a:srgbClr val="000000"/>
                </a:solidFill>
                <a:latin typeface="Inter Bold"/>
              </a:rPr>
              <a:t>As a crocheter i’m solving the problem of limited acces to unique, handmade, and culturally inspired clothing options in my community.</a:t>
            </a:r>
            <a:endParaRPr lang="en-US" sz="2700" dirty="0">
              <a:solidFill>
                <a:srgbClr val="000000"/>
              </a:solidFill>
              <a:latin typeface="Inter Bold"/>
            </a:endParaRPr>
          </a:p>
          <a:p>
            <a:pPr>
              <a:lnSpc>
                <a:spcPts val="3780"/>
              </a:lnSpc>
            </a:pPr>
            <a:r>
              <a:rPr lang="en-US" sz="2700" dirty="0">
                <a:solidFill>
                  <a:srgbClr val="000000"/>
                </a:solidFill>
                <a:latin typeface="Inter Bold"/>
              </a:rPr>
              <a:t>also providing a way for people to support local artisans and small businesses, while promoting sustainability and creativity.</a:t>
            </a:r>
            <a:endParaRPr lang="en-US" sz="2700" dirty="0">
              <a:solidFill>
                <a:srgbClr val="000000"/>
              </a:solidFill>
              <a:latin typeface="Inter Bold"/>
            </a:endParaRPr>
          </a:p>
        </p:txBody>
      </p:sp>
      <p:sp>
        <p:nvSpPr>
          <p:cNvPr id="28" name="TextBox 28"/>
          <p:cNvSpPr txBox="1"/>
          <p:nvPr/>
        </p:nvSpPr>
        <p:spPr>
          <a:xfrm>
            <a:off x="1925690" y="6592851"/>
            <a:ext cx="14838310" cy="944169"/>
          </a:xfrm>
          <a:prstGeom prst="rect">
            <a:avLst/>
          </a:prstGeom>
        </p:spPr>
        <p:txBody>
          <a:bodyPr wrap="square" lIns="0" tIns="0" rIns="0" bIns="0" rtlCol="0" anchor="t">
            <a:spAutoFit/>
          </a:bodyPr>
          <a:lstStyle/>
          <a:p>
            <a:pPr>
              <a:lnSpc>
                <a:spcPts val="3780"/>
              </a:lnSpc>
            </a:pPr>
            <a:endParaRPr lang="en-US" sz="2700" dirty="0">
              <a:solidFill>
                <a:srgbClr val="000000"/>
              </a:solidFill>
              <a:latin typeface="Inter Bold"/>
            </a:endParaRPr>
          </a:p>
          <a:p>
            <a:pPr>
              <a:lnSpc>
                <a:spcPts val="3780"/>
              </a:lnSpc>
            </a:pPr>
            <a:r>
              <a:rPr lang="en-US" sz="2700" dirty="0">
                <a:solidFill>
                  <a:srgbClr val="000000"/>
                </a:solidFill>
                <a:latin typeface="Inter Bold"/>
              </a:rPr>
              <a:t>. </a:t>
            </a:r>
            <a:endParaRPr lang="en-US" sz="2700" dirty="0">
              <a:solidFill>
                <a:srgbClr val="000000"/>
              </a:solidFill>
              <a:latin typeface="Inter Bold"/>
            </a:endParaRPr>
          </a:p>
        </p:txBody>
      </p:sp>
      <p:sp>
        <p:nvSpPr>
          <p:cNvPr id="36" name="Rectangle 35"/>
          <p:cNvSpPr/>
          <p:nvPr/>
        </p:nvSpPr>
        <p:spPr>
          <a:xfrm>
            <a:off x="9637686" y="266700"/>
            <a:ext cx="8421713" cy="5867400"/>
          </a:xfrm>
          <a:prstGeom prst="rect">
            <a:avLst/>
          </a:prstGeom>
          <a:ln>
            <a:solidFill>
              <a:srgbClr val="05559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I</a:t>
            </a:r>
            <a:r>
              <a:rPr lang="en-US" dirty="0"/>
              <a:t>nsert a picture</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txBox="1"/>
          <p:nvPr/>
        </p:nvSpPr>
        <p:spPr>
          <a:xfrm>
            <a:off x="839945" y="552744"/>
            <a:ext cx="6818840" cy="994410"/>
          </a:xfrm>
          <a:prstGeom prst="rect">
            <a:avLst/>
          </a:prstGeom>
        </p:spPr>
        <p:txBody>
          <a:bodyPr lIns="0" tIns="0" rIns="0" bIns="0" rtlCol="0" anchor="t">
            <a:spAutoFit/>
          </a:bodyPr>
          <a:lstStyle/>
          <a:p>
            <a:pPr>
              <a:lnSpc>
                <a:spcPts val="7560"/>
              </a:lnSpc>
            </a:pPr>
            <a:r>
              <a:rPr lang="en-US" sz="7200" dirty="0">
                <a:solidFill>
                  <a:srgbClr val="055594"/>
                </a:solidFill>
                <a:latin typeface="Inter Bold"/>
              </a:rPr>
              <a:t>SOLUTIONS</a:t>
            </a:r>
            <a:endParaRPr lang="en-US" sz="7200" dirty="0">
              <a:solidFill>
                <a:srgbClr val="055594"/>
              </a:solidFill>
              <a:latin typeface="Inter Bold"/>
            </a:endParaRPr>
          </a:p>
        </p:txBody>
      </p:sp>
      <p:sp>
        <p:nvSpPr>
          <p:cNvPr id="7" name="TextBox 7"/>
          <p:cNvSpPr txBox="1"/>
          <p:nvPr/>
        </p:nvSpPr>
        <p:spPr>
          <a:xfrm>
            <a:off x="839945" y="1518579"/>
            <a:ext cx="6818840" cy="396240"/>
          </a:xfrm>
          <a:prstGeom prst="rect">
            <a:avLst/>
          </a:prstGeom>
        </p:spPr>
        <p:txBody>
          <a:bodyPr lIns="0" tIns="0" rIns="0" bIns="0" rtlCol="0" anchor="t">
            <a:spAutoFit/>
          </a:bodyPr>
          <a:lstStyle/>
          <a:p>
            <a:pPr marL="0" indent="0">
              <a:lnSpc>
                <a:spcPts val="3360"/>
              </a:lnSpc>
            </a:pPr>
            <a:r>
              <a:rPr lang="en-US" sz="2400" spc="177" dirty="0">
                <a:solidFill>
                  <a:srgbClr val="000000"/>
                </a:solidFill>
                <a:latin typeface="Open Sans Bold"/>
              </a:rPr>
              <a:t>SOLUTIONS OF THE PROBLEMS</a:t>
            </a:r>
            <a:endParaRPr lang="en-US" sz="2400" spc="177" dirty="0">
              <a:solidFill>
                <a:srgbClr val="000000"/>
              </a:solidFill>
              <a:latin typeface="Open Sans Bold"/>
            </a:endParaRPr>
          </a:p>
        </p:txBody>
      </p:sp>
      <p:grpSp>
        <p:nvGrpSpPr>
          <p:cNvPr id="8" name="Group 8"/>
          <p:cNvGrpSpPr/>
          <p:nvPr/>
        </p:nvGrpSpPr>
        <p:grpSpPr>
          <a:xfrm>
            <a:off x="7606003" y="782081"/>
            <a:ext cx="10569694" cy="10287000"/>
            <a:chOff x="0" y="0"/>
            <a:chExt cx="2783788" cy="2709333"/>
          </a:xfrm>
          <a:solidFill>
            <a:srgbClr val="055594"/>
          </a:solidFill>
        </p:grpSpPr>
        <p:sp>
          <p:nvSpPr>
            <p:cNvPr id="9" name="Freeform 9"/>
            <p:cNvSpPr/>
            <p:nvPr/>
          </p:nvSpPr>
          <p:spPr>
            <a:xfrm>
              <a:off x="0" y="0"/>
              <a:ext cx="2783788" cy="2709333"/>
            </a:xfrm>
            <a:custGeom>
              <a:avLst/>
              <a:gdLst/>
              <a:ahLst/>
              <a:cxnLst/>
              <a:rect l="l" t="t" r="r" b="b"/>
              <a:pathLst>
                <a:path w="2783788" h="2709333">
                  <a:moveTo>
                    <a:pt x="0" y="0"/>
                  </a:moveTo>
                  <a:lnTo>
                    <a:pt x="2783788" y="0"/>
                  </a:lnTo>
                  <a:lnTo>
                    <a:pt x="2783788" y="2709333"/>
                  </a:lnTo>
                  <a:lnTo>
                    <a:pt x="0" y="2709333"/>
                  </a:lnTo>
                  <a:lnTo>
                    <a:pt x="0" y="0"/>
                  </a:lnTo>
                  <a:close/>
                </a:path>
              </a:pathLst>
            </a:custGeom>
            <a:grpFill/>
          </p:spPr>
          <p:txBody>
            <a:bodyPr/>
            <a:lstStyle/>
            <a:p>
              <a:endParaRPr lang="en-US" dirty="0"/>
            </a:p>
          </p:txBody>
        </p:sp>
        <p:sp>
          <p:nvSpPr>
            <p:cNvPr id="10" name="TextBox 10"/>
            <p:cNvSpPr txBox="1"/>
            <p:nvPr/>
          </p:nvSpPr>
          <p:spPr>
            <a:xfrm>
              <a:off x="0" y="-47625"/>
              <a:ext cx="2783788" cy="2756958"/>
            </a:xfrm>
            <a:prstGeom prst="rect">
              <a:avLst/>
            </a:prstGeom>
            <a:grpFill/>
          </p:spPr>
          <p:txBody>
            <a:bodyPr lIns="50800" tIns="50800" rIns="50800" bIns="50800" rtlCol="0" anchor="ctr"/>
            <a:lstStyle/>
            <a:p>
              <a:pPr algn="ctr">
                <a:lnSpc>
                  <a:spcPts val="2480"/>
                </a:lnSpc>
              </a:pPr>
              <a:endParaRPr dirty="0"/>
            </a:p>
          </p:txBody>
        </p:sp>
      </p:grpSp>
      <p:sp>
        <p:nvSpPr>
          <p:cNvPr id="13" name="AutoShape 13"/>
          <p:cNvSpPr/>
          <p:nvPr/>
        </p:nvSpPr>
        <p:spPr>
          <a:xfrm flipV="1">
            <a:off x="839945" y="2324009"/>
            <a:ext cx="1858299" cy="0"/>
          </a:xfrm>
          <a:prstGeom prst="line">
            <a:avLst/>
          </a:prstGeom>
          <a:ln w="76200" cap="flat">
            <a:solidFill>
              <a:srgbClr val="EAE4D2"/>
            </a:solidFill>
            <a:prstDash val="solid"/>
            <a:headEnd type="none" w="sm" len="sm"/>
            <a:tailEnd type="none" w="sm" len="sm"/>
          </a:ln>
        </p:spPr>
        <p:txBody>
          <a:bodyPr/>
          <a:lstStyle/>
          <a:p>
            <a:endParaRPr lang="en-US"/>
          </a:p>
        </p:txBody>
      </p:sp>
      <p:grpSp>
        <p:nvGrpSpPr>
          <p:cNvPr id="14" name="Group 14"/>
          <p:cNvGrpSpPr/>
          <p:nvPr/>
        </p:nvGrpSpPr>
        <p:grpSpPr>
          <a:xfrm>
            <a:off x="8493611" y="595884"/>
            <a:ext cx="877649" cy="87764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E4D2"/>
            </a:solidFill>
          </p:spPr>
          <p:txBody>
            <a:bodyPr/>
            <a:lstStyle/>
            <a:p>
              <a:endParaRPr lang="en-US"/>
            </a:p>
          </p:txBody>
        </p:sp>
        <p:sp>
          <p:nvSpPr>
            <p:cNvPr id="16" name="TextBox 16"/>
            <p:cNvSpPr txBox="1"/>
            <p:nvPr/>
          </p:nvSpPr>
          <p:spPr>
            <a:xfrm>
              <a:off x="76200" y="19050"/>
              <a:ext cx="660400" cy="717550"/>
            </a:xfrm>
            <a:prstGeom prst="rect">
              <a:avLst/>
            </a:prstGeom>
          </p:spPr>
          <p:txBody>
            <a:bodyPr lIns="44470" tIns="44470" rIns="44470" bIns="44470" rtlCol="0" anchor="ctr"/>
            <a:lstStyle/>
            <a:p>
              <a:pPr algn="ctr">
                <a:lnSpc>
                  <a:spcPts val="4200"/>
                </a:lnSpc>
              </a:pPr>
              <a:r>
                <a:rPr lang="en-US" sz="3000" dirty="0">
                  <a:solidFill>
                    <a:srgbClr val="17726D"/>
                  </a:solidFill>
                  <a:latin typeface="Inter Bold"/>
                </a:rPr>
                <a:t>01</a:t>
              </a:r>
              <a:endParaRPr lang="en-US" sz="3000" dirty="0">
                <a:solidFill>
                  <a:srgbClr val="17726D"/>
                </a:solidFill>
                <a:latin typeface="Inter Bold"/>
              </a:endParaRPr>
            </a:p>
          </p:txBody>
        </p:sp>
      </p:grpSp>
      <p:sp>
        <p:nvSpPr>
          <p:cNvPr id="17" name="TextBox 17"/>
          <p:cNvSpPr txBox="1"/>
          <p:nvPr/>
        </p:nvSpPr>
        <p:spPr>
          <a:xfrm>
            <a:off x="9579356" y="782081"/>
            <a:ext cx="7641844" cy="1938655"/>
          </a:xfrm>
          <a:prstGeom prst="rect">
            <a:avLst/>
          </a:prstGeom>
        </p:spPr>
        <p:txBody>
          <a:bodyPr lIns="0" tIns="0" rIns="0" bIns="0" rtlCol="0" anchor="t">
            <a:spAutoFit/>
          </a:bodyPr>
          <a:lstStyle/>
          <a:p>
            <a:pPr>
              <a:lnSpc>
                <a:spcPts val="3780"/>
              </a:lnSpc>
            </a:pPr>
            <a:r>
              <a:rPr lang="en-US" sz="2700" dirty="0">
                <a:solidFill>
                  <a:srgbClr val="FFFFFF"/>
                </a:solidFill>
                <a:latin typeface="Inter Bold"/>
              </a:rPr>
              <a:t>My crochet hair nets(bonnets) provide a stylish, breathable, and comfortable ways to protect hair, preserving hair health and beauty.</a:t>
            </a:r>
            <a:endParaRPr lang="en-US" sz="2700" dirty="0">
              <a:solidFill>
                <a:srgbClr val="FFFFFF"/>
              </a:solidFill>
              <a:latin typeface="Inter Bold"/>
            </a:endParaRPr>
          </a:p>
        </p:txBody>
      </p:sp>
      <p:sp>
        <p:nvSpPr>
          <p:cNvPr id="18" name="TextBox 18"/>
          <p:cNvSpPr txBox="1"/>
          <p:nvPr/>
        </p:nvSpPr>
        <p:spPr>
          <a:xfrm>
            <a:off x="9579356" y="1397333"/>
            <a:ext cx="7641844" cy="435312"/>
          </a:xfrm>
          <a:prstGeom prst="rect">
            <a:avLst/>
          </a:prstGeom>
        </p:spPr>
        <p:txBody>
          <a:bodyPr lIns="0" tIns="0" rIns="0" bIns="0" rtlCol="0" anchor="t">
            <a:spAutoFit/>
          </a:bodyPr>
          <a:lstStyle/>
          <a:p>
            <a:pPr marL="0" indent="0" algn="just">
              <a:lnSpc>
                <a:spcPts val="3720"/>
              </a:lnSpc>
            </a:pPr>
            <a:r>
              <a:rPr lang="en-US" sz="2400" dirty="0">
                <a:solidFill>
                  <a:srgbClr val="FFFFFF"/>
                </a:solidFill>
                <a:latin typeface="Open Sans"/>
              </a:rPr>
              <a:t> </a:t>
            </a:r>
            <a:endParaRPr lang="en-US" sz="2400" dirty="0">
              <a:solidFill>
                <a:srgbClr val="FFFFFF"/>
              </a:solidFill>
              <a:latin typeface="Open Sans"/>
            </a:endParaRPr>
          </a:p>
        </p:txBody>
      </p:sp>
      <p:sp>
        <p:nvSpPr>
          <p:cNvPr id="23" name="TextBox 23"/>
          <p:cNvSpPr txBox="1"/>
          <p:nvPr/>
        </p:nvSpPr>
        <p:spPr>
          <a:xfrm>
            <a:off x="9579356" y="4530530"/>
            <a:ext cx="7641844" cy="435312"/>
          </a:xfrm>
          <a:prstGeom prst="rect">
            <a:avLst/>
          </a:prstGeom>
        </p:spPr>
        <p:txBody>
          <a:bodyPr lIns="0" tIns="0" rIns="0" bIns="0" rtlCol="0" anchor="t">
            <a:spAutoFit/>
          </a:bodyPr>
          <a:lstStyle/>
          <a:p>
            <a:pPr marL="0" indent="0" algn="just">
              <a:lnSpc>
                <a:spcPts val="3720"/>
              </a:lnSpc>
            </a:pPr>
            <a:r>
              <a:rPr lang="en-US" sz="2400" dirty="0">
                <a:solidFill>
                  <a:srgbClr val="FFFFFF"/>
                </a:solidFill>
                <a:latin typeface="Open Sans"/>
              </a:rPr>
              <a:t>  </a:t>
            </a:r>
            <a:endParaRPr lang="en-US" sz="2400" dirty="0">
              <a:solidFill>
                <a:srgbClr val="FFFFFF"/>
              </a:solidFill>
              <a:latin typeface="Open Sans"/>
            </a:endParaRPr>
          </a:p>
        </p:txBody>
      </p:sp>
      <p:sp>
        <p:nvSpPr>
          <p:cNvPr id="30" name="TextBox 26"/>
          <p:cNvSpPr txBox="1"/>
          <p:nvPr/>
        </p:nvSpPr>
        <p:spPr>
          <a:xfrm>
            <a:off x="248814" y="9300163"/>
            <a:ext cx="1635971" cy="868186"/>
          </a:xfrm>
          <a:prstGeom prst="rect">
            <a:avLst/>
          </a:prstGeom>
        </p:spPr>
        <p:txBody>
          <a:bodyPr wrap="square" lIns="0" tIns="0" rIns="0" bIns="0" rtlCol="0" anchor="t">
            <a:spAutoFit/>
          </a:bodyPr>
          <a:lstStyle/>
          <a:p>
            <a:pPr>
              <a:lnSpc>
                <a:spcPts val="3500"/>
              </a:lnSpc>
            </a:pPr>
            <a:r>
              <a:rPr lang="en-US" sz="2500" dirty="0">
                <a:solidFill>
                  <a:srgbClr val="000000"/>
                </a:solidFill>
                <a:latin typeface="Open Sans Semi-Bold"/>
              </a:rPr>
              <a:t>Insert Your Logo</a:t>
            </a:r>
            <a:endParaRPr lang="en-US" sz="2500" dirty="0">
              <a:solidFill>
                <a:srgbClr val="000000"/>
              </a:solidFill>
              <a:latin typeface="Open Sans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txBox="1"/>
          <p:nvPr/>
        </p:nvSpPr>
        <p:spPr>
          <a:xfrm>
            <a:off x="839944" y="552744"/>
            <a:ext cx="10742455" cy="974626"/>
          </a:xfrm>
          <a:prstGeom prst="rect">
            <a:avLst/>
          </a:prstGeom>
        </p:spPr>
        <p:txBody>
          <a:bodyPr wrap="square" lIns="0" tIns="0" rIns="0" bIns="0" rtlCol="0" anchor="t">
            <a:spAutoFit/>
          </a:bodyPr>
          <a:lstStyle/>
          <a:p>
            <a:pPr>
              <a:lnSpc>
                <a:spcPts val="7560"/>
              </a:lnSpc>
            </a:pPr>
            <a:r>
              <a:rPr lang="en-US" sz="7200" dirty="0">
                <a:solidFill>
                  <a:srgbClr val="055594"/>
                </a:solidFill>
                <a:latin typeface="Inter Bold"/>
              </a:rPr>
              <a:t>MARKET AUDIENCE</a:t>
            </a:r>
            <a:endParaRPr lang="en-US" sz="7200" dirty="0">
              <a:solidFill>
                <a:srgbClr val="055594"/>
              </a:solidFill>
              <a:latin typeface="Inter Bold"/>
            </a:endParaRPr>
          </a:p>
        </p:txBody>
      </p:sp>
      <p:grpSp>
        <p:nvGrpSpPr>
          <p:cNvPr id="8" name="Group 8"/>
          <p:cNvGrpSpPr/>
          <p:nvPr/>
        </p:nvGrpSpPr>
        <p:grpSpPr>
          <a:xfrm>
            <a:off x="9927936" y="-104553"/>
            <a:ext cx="9752276" cy="10496105"/>
            <a:chOff x="-5945" y="-100011"/>
            <a:chExt cx="2789733" cy="2809344"/>
          </a:xfrm>
          <a:solidFill>
            <a:srgbClr val="055594"/>
          </a:solidFill>
        </p:grpSpPr>
        <p:sp>
          <p:nvSpPr>
            <p:cNvPr id="9" name="Freeform 9"/>
            <p:cNvSpPr/>
            <p:nvPr/>
          </p:nvSpPr>
          <p:spPr>
            <a:xfrm>
              <a:off x="0" y="0"/>
              <a:ext cx="2783788" cy="2709333"/>
            </a:xfrm>
            <a:custGeom>
              <a:avLst/>
              <a:gdLst/>
              <a:ahLst/>
              <a:cxnLst/>
              <a:rect l="l" t="t" r="r" b="b"/>
              <a:pathLst>
                <a:path w="2783788" h="2709333">
                  <a:moveTo>
                    <a:pt x="0" y="0"/>
                  </a:moveTo>
                  <a:lnTo>
                    <a:pt x="2783788" y="0"/>
                  </a:lnTo>
                  <a:lnTo>
                    <a:pt x="2783788" y="2709333"/>
                  </a:lnTo>
                  <a:lnTo>
                    <a:pt x="0" y="2709333"/>
                  </a:lnTo>
                  <a:lnTo>
                    <a:pt x="0" y="0"/>
                  </a:lnTo>
                  <a:close/>
                </a:path>
              </a:pathLst>
            </a:custGeom>
            <a:grpFill/>
          </p:spPr>
          <p:txBody>
            <a:bodyPr/>
            <a:lstStyle/>
            <a:p>
              <a:endParaRPr lang="en-US" dirty="0"/>
            </a:p>
          </p:txBody>
        </p:sp>
        <p:sp>
          <p:nvSpPr>
            <p:cNvPr id="10" name="TextBox 10"/>
            <p:cNvSpPr txBox="1"/>
            <p:nvPr/>
          </p:nvSpPr>
          <p:spPr>
            <a:xfrm>
              <a:off x="-5945" y="-100011"/>
              <a:ext cx="2783788" cy="2756958"/>
            </a:xfrm>
            <a:prstGeom prst="rect">
              <a:avLst/>
            </a:prstGeom>
            <a:grpFill/>
          </p:spPr>
          <p:txBody>
            <a:bodyPr lIns="50800" tIns="50800" rIns="50800" bIns="50800" rtlCol="0" anchor="ctr"/>
            <a:lstStyle/>
            <a:p>
              <a:pPr algn="ctr">
                <a:lnSpc>
                  <a:spcPts val="2480"/>
                </a:lnSpc>
              </a:pPr>
              <a:endParaRPr dirty="0"/>
            </a:p>
          </p:txBody>
        </p:sp>
      </p:grpSp>
      <p:sp>
        <p:nvSpPr>
          <p:cNvPr id="13" name="AutoShape 13"/>
          <p:cNvSpPr/>
          <p:nvPr/>
        </p:nvSpPr>
        <p:spPr>
          <a:xfrm flipV="1">
            <a:off x="839945" y="2324009"/>
            <a:ext cx="1858299" cy="0"/>
          </a:xfrm>
          <a:prstGeom prst="line">
            <a:avLst/>
          </a:prstGeom>
          <a:ln w="76200" cap="flat">
            <a:solidFill>
              <a:srgbClr val="EAE4D2"/>
            </a:solidFill>
            <a:prstDash val="solid"/>
            <a:headEnd type="none" w="sm" len="sm"/>
            <a:tailEnd type="none" w="sm" len="sm"/>
          </a:ln>
        </p:spPr>
        <p:txBody>
          <a:bodyPr/>
          <a:lstStyle/>
          <a:p>
            <a:endParaRPr lang="en-US"/>
          </a:p>
        </p:txBody>
      </p:sp>
      <p:sp>
        <p:nvSpPr>
          <p:cNvPr id="27" name="TextBox 27"/>
          <p:cNvSpPr txBox="1"/>
          <p:nvPr/>
        </p:nvSpPr>
        <p:spPr>
          <a:xfrm>
            <a:off x="10820400" y="797904"/>
            <a:ext cx="7641844" cy="1454150"/>
          </a:xfrm>
          <a:prstGeom prst="rect">
            <a:avLst/>
          </a:prstGeom>
        </p:spPr>
        <p:txBody>
          <a:bodyPr lIns="0" tIns="0" rIns="0" bIns="0" rtlCol="0" anchor="t">
            <a:spAutoFit/>
          </a:bodyPr>
          <a:lstStyle/>
          <a:p>
            <a:pPr>
              <a:lnSpc>
                <a:spcPts val="3780"/>
              </a:lnSpc>
            </a:pPr>
            <a:r>
              <a:rPr lang="en-US" sz="2700" dirty="0">
                <a:solidFill>
                  <a:srgbClr val="FFFFFF"/>
                </a:solidFill>
                <a:latin typeface="Inter Bold"/>
              </a:rPr>
              <a:t>Women (particularly those working outdoors and with busy lifestyles) around 10-50 but also mothers of kids from 0-10.</a:t>
            </a:r>
            <a:endParaRPr lang="en-US" sz="2700" dirty="0">
              <a:solidFill>
                <a:srgbClr val="FFFFFF"/>
              </a:solidFill>
              <a:latin typeface="Inter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9288478" y="0"/>
            <a:ext cx="9313622" cy="10287000"/>
          </a:xfrm>
          <a:custGeom>
            <a:avLst/>
            <a:gdLst/>
            <a:ahLst/>
            <a:cxnLst/>
            <a:rect l="l" t="t" r="r" b="b"/>
            <a:pathLst>
              <a:path w="2451795" h="2709333">
                <a:moveTo>
                  <a:pt x="0" y="0"/>
                </a:moveTo>
                <a:lnTo>
                  <a:pt x="2451795" y="0"/>
                </a:lnTo>
                <a:lnTo>
                  <a:pt x="2451795" y="2709333"/>
                </a:lnTo>
                <a:lnTo>
                  <a:pt x="0" y="2709333"/>
                </a:lnTo>
                <a:lnTo>
                  <a:pt x="0" y="0"/>
                </a:lnTo>
                <a:close/>
              </a:path>
            </a:pathLst>
          </a:custGeom>
          <a:solidFill>
            <a:srgbClr val="055594"/>
          </a:solidFill>
        </p:spPr>
        <p:txBody>
          <a:bodyPr/>
          <a:lstStyle/>
          <a:p>
            <a:endParaRPr lang="en-US"/>
          </a:p>
        </p:txBody>
      </p:sp>
      <p:sp>
        <p:nvSpPr>
          <p:cNvPr id="6" name="AutoShape 6"/>
          <p:cNvSpPr/>
          <p:nvPr/>
        </p:nvSpPr>
        <p:spPr>
          <a:xfrm flipV="1">
            <a:off x="839945" y="2418387"/>
            <a:ext cx="1858299" cy="0"/>
          </a:xfrm>
          <a:prstGeom prst="line">
            <a:avLst/>
          </a:prstGeom>
          <a:ln w="76200" cap="flat">
            <a:solidFill>
              <a:srgbClr val="055594"/>
            </a:solidFill>
            <a:prstDash val="solid"/>
            <a:headEnd type="none" w="sm" len="sm"/>
            <a:tailEnd type="none" w="sm" len="sm"/>
          </a:ln>
        </p:spPr>
        <p:txBody>
          <a:bodyPr/>
          <a:lstStyle/>
          <a:p>
            <a:endParaRPr lang="en-US"/>
          </a:p>
        </p:txBody>
      </p:sp>
      <p:sp>
        <p:nvSpPr>
          <p:cNvPr id="14" name="TextBox 14"/>
          <p:cNvSpPr txBox="1"/>
          <p:nvPr/>
        </p:nvSpPr>
        <p:spPr>
          <a:xfrm>
            <a:off x="839945" y="552744"/>
            <a:ext cx="8147912" cy="994410"/>
          </a:xfrm>
          <a:prstGeom prst="rect">
            <a:avLst/>
          </a:prstGeom>
        </p:spPr>
        <p:txBody>
          <a:bodyPr lIns="0" tIns="0" rIns="0" bIns="0" rtlCol="0" anchor="t">
            <a:spAutoFit/>
          </a:bodyPr>
          <a:lstStyle/>
          <a:p>
            <a:pPr>
              <a:lnSpc>
                <a:spcPts val="7560"/>
              </a:lnSpc>
            </a:pPr>
            <a:r>
              <a:rPr lang="en-US" sz="7200" dirty="0">
                <a:solidFill>
                  <a:srgbClr val="055594"/>
                </a:solidFill>
                <a:latin typeface="Inter Bold"/>
              </a:rPr>
              <a:t>MARKET SIZE</a:t>
            </a:r>
            <a:endParaRPr lang="en-US" sz="7200" dirty="0">
              <a:solidFill>
                <a:srgbClr val="055594"/>
              </a:solidFill>
              <a:latin typeface="Inter Bold"/>
            </a:endParaRPr>
          </a:p>
        </p:txBody>
      </p:sp>
      <p:sp>
        <p:nvSpPr>
          <p:cNvPr id="15" name="TextBox 15"/>
          <p:cNvSpPr txBox="1"/>
          <p:nvPr/>
        </p:nvSpPr>
        <p:spPr>
          <a:xfrm>
            <a:off x="849470" y="1556679"/>
            <a:ext cx="8138387" cy="406458"/>
          </a:xfrm>
          <a:prstGeom prst="rect">
            <a:avLst/>
          </a:prstGeom>
        </p:spPr>
        <p:txBody>
          <a:bodyPr lIns="0" tIns="0" rIns="0" bIns="0" rtlCol="0" anchor="t">
            <a:spAutoFit/>
          </a:bodyPr>
          <a:lstStyle/>
          <a:p>
            <a:pPr marL="0" indent="0">
              <a:lnSpc>
                <a:spcPts val="3360"/>
              </a:lnSpc>
            </a:pPr>
            <a:r>
              <a:rPr lang="en-US" sz="2400" spc="177" dirty="0">
                <a:solidFill>
                  <a:srgbClr val="055594"/>
                </a:solidFill>
                <a:latin typeface="Open Sans Semi-Bold"/>
              </a:rPr>
              <a:t>WHERE OUR CLIENTS COME FROM</a:t>
            </a:r>
            <a:endParaRPr lang="en-US" sz="2400" spc="177" dirty="0">
              <a:solidFill>
                <a:srgbClr val="055594"/>
              </a:solidFill>
              <a:latin typeface="Open Sans Semi-Bold"/>
            </a:endParaRPr>
          </a:p>
        </p:txBody>
      </p:sp>
      <p:grpSp>
        <p:nvGrpSpPr>
          <p:cNvPr id="17" name="Group 17"/>
          <p:cNvGrpSpPr/>
          <p:nvPr/>
        </p:nvGrpSpPr>
        <p:grpSpPr>
          <a:xfrm>
            <a:off x="10096657" y="653223"/>
            <a:ext cx="6683462" cy="553720"/>
            <a:chOff x="0" y="0"/>
            <a:chExt cx="1760253" cy="145836"/>
          </a:xfrm>
        </p:grpSpPr>
        <p:sp>
          <p:nvSpPr>
            <p:cNvPr id="18" name="Freeform 18"/>
            <p:cNvSpPr/>
            <p:nvPr/>
          </p:nvSpPr>
          <p:spPr>
            <a:xfrm>
              <a:off x="0" y="0"/>
              <a:ext cx="1760253" cy="145836"/>
            </a:xfrm>
            <a:custGeom>
              <a:avLst/>
              <a:gdLst/>
              <a:ahLst/>
              <a:cxnLst/>
              <a:rect l="l" t="t" r="r" b="b"/>
              <a:pathLst>
                <a:path w="1760253" h="145836">
                  <a:moveTo>
                    <a:pt x="59077" y="0"/>
                  </a:moveTo>
                  <a:lnTo>
                    <a:pt x="1701177" y="0"/>
                  </a:lnTo>
                  <a:cubicBezTo>
                    <a:pt x="1716845" y="0"/>
                    <a:pt x="1731871" y="6224"/>
                    <a:pt x="1742950" y="17303"/>
                  </a:cubicBezTo>
                  <a:cubicBezTo>
                    <a:pt x="1754029" y="28382"/>
                    <a:pt x="1760253" y="43409"/>
                    <a:pt x="1760253" y="59077"/>
                  </a:cubicBezTo>
                  <a:lnTo>
                    <a:pt x="1760253" y="86759"/>
                  </a:lnTo>
                  <a:cubicBezTo>
                    <a:pt x="1760253" y="119386"/>
                    <a:pt x="1733804" y="145836"/>
                    <a:pt x="1701177" y="145836"/>
                  </a:cubicBezTo>
                  <a:lnTo>
                    <a:pt x="59077" y="145836"/>
                  </a:lnTo>
                  <a:cubicBezTo>
                    <a:pt x="43409" y="145836"/>
                    <a:pt x="28382" y="139611"/>
                    <a:pt x="17303" y="128532"/>
                  </a:cubicBezTo>
                  <a:cubicBezTo>
                    <a:pt x="6224" y="117453"/>
                    <a:pt x="0" y="102427"/>
                    <a:pt x="0" y="86759"/>
                  </a:cubicBezTo>
                  <a:lnTo>
                    <a:pt x="0" y="59077"/>
                  </a:lnTo>
                  <a:cubicBezTo>
                    <a:pt x="0" y="26450"/>
                    <a:pt x="26450" y="0"/>
                    <a:pt x="59077" y="0"/>
                  </a:cubicBezTo>
                  <a:close/>
                </a:path>
              </a:pathLst>
            </a:custGeom>
            <a:solidFill>
              <a:schemeClr val="bg1"/>
            </a:solidFill>
          </p:spPr>
          <p:txBody>
            <a:bodyPr/>
            <a:lstStyle/>
            <a:p>
              <a:endParaRPr lang="en-US"/>
            </a:p>
          </p:txBody>
        </p:sp>
        <p:sp>
          <p:nvSpPr>
            <p:cNvPr id="19" name="TextBox 19"/>
            <p:cNvSpPr txBox="1"/>
            <p:nvPr/>
          </p:nvSpPr>
          <p:spPr>
            <a:xfrm>
              <a:off x="0" y="-38100"/>
              <a:ext cx="1760253" cy="183936"/>
            </a:xfrm>
            <a:prstGeom prst="rect">
              <a:avLst/>
            </a:prstGeom>
          </p:spPr>
          <p:txBody>
            <a:bodyPr lIns="50800" tIns="50800" rIns="50800" bIns="50800" rtlCol="0" anchor="ctr"/>
            <a:lstStyle/>
            <a:p>
              <a:pPr algn="ctr">
                <a:lnSpc>
                  <a:spcPts val="3080"/>
                </a:lnSpc>
              </a:pPr>
              <a:r>
                <a:rPr lang="en-US" sz="2200" dirty="0">
                  <a:solidFill>
                    <a:srgbClr val="055594"/>
                  </a:solidFill>
                  <a:latin typeface="Inter Bold"/>
                </a:rPr>
                <a:t>Total Available Market (TAM)</a:t>
              </a:r>
              <a:endParaRPr lang="en-US" sz="2200" dirty="0">
                <a:solidFill>
                  <a:srgbClr val="055594"/>
                </a:solidFill>
                <a:latin typeface="Inter Bold"/>
              </a:endParaRPr>
            </a:p>
          </p:txBody>
        </p:sp>
      </p:grpSp>
      <p:grpSp>
        <p:nvGrpSpPr>
          <p:cNvPr id="20" name="Group 20"/>
          <p:cNvGrpSpPr/>
          <p:nvPr/>
        </p:nvGrpSpPr>
        <p:grpSpPr>
          <a:xfrm>
            <a:off x="10096657" y="3652395"/>
            <a:ext cx="6683462" cy="553720"/>
            <a:chOff x="0" y="0"/>
            <a:chExt cx="1760253" cy="145836"/>
          </a:xfrm>
        </p:grpSpPr>
        <p:sp>
          <p:nvSpPr>
            <p:cNvPr id="21" name="Freeform 21"/>
            <p:cNvSpPr/>
            <p:nvPr/>
          </p:nvSpPr>
          <p:spPr>
            <a:xfrm>
              <a:off x="0" y="0"/>
              <a:ext cx="1760253" cy="145836"/>
            </a:xfrm>
            <a:custGeom>
              <a:avLst/>
              <a:gdLst/>
              <a:ahLst/>
              <a:cxnLst/>
              <a:rect l="l" t="t" r="r" b="b"/>
              <a:pathLst>
                <a:path w="1760253" h="145836">
                  <a:moveTo>
                    <a:pt x="59077" y="0"/>
                  </a:moveTo>
                  <a:lnTo>
                    <a:pt x="1701177" y="0"/>
                  </a:lnTo>
                  <a:cubicBezTo>
                    <a:pt x="1716845" y="0"/>
                    <a:pt x="1731871" y="6224"/>
                    <a:pt x="1742950" y="17303"/>
                  </a:cubicBezTo>
                  <a:cubicBezTo>
                    <a:pt x="1754029" y="28382"/>
                    <a:pt x="1760253" y="43409"/>
                    <a:pt x="1760253" y="59077"/>
                  </a:cubicBezTo>
                  <a:lnTo>
                    <a:pt x="1760253" y="86759"/>
                  </a:lnTo>
                  <a:cubicBezTo>
                    <a:pt x="1760253" y="119386"/>
                    <a:pt x="1733804" y="145836"/>
                    <a:pt x="1701177" y="145836"/>
                  </a:cubicBezTo>
                  <a:lnTo>
                    <a:pt x="59077" y="145836"/>
                  </a:lnTo>
                  <a:cubicBezTo>
                    <a:pt x="43409" y="145836"/>
                    <a:pt x="28382" y="139611"/>
                    <a:pt x="17303" y="128532"/>
                  </a:cubicBezTo>
                  <a:cubicBezTo>
                    <a:pt x="6224" y="117453"/>
                    <a:pt x="0" y="102427"/>
                    <a:pt x="0" y="86759"/>
                  </a:cubicBezTo>
                  <a:lnTo>
                    <a:pt x="0" y="59077"/>
                  </a:lnTo>
                  <a:cubicBezTo>
                    <a:pt x="0" y="26450"/>
                    <a:pt x="26450" y="0"/>
                    <a:pt x="59077" y="0"/>
                  </a:cubicBezTo>
                  <a:close/>
                </a:path>
              </a:pathLst>
            </a:custGeom>
            <a:solidFill>
              <a:schemeClr val="bg1"/>
            </a:solidFill>
          </p:spPr>
          <p:txBody>
            <a:bodyPr/>
            <a:lstStyle/>
            <a:p>
              <a:endParaRPr lang="en-US" dirty="0"/>
            </a:p>
          </p:txBody>
        </p:sp>
        <p:sp>
          <p:nvSpPr>
            <p:cNvPr id="22" name="TextBox 22"/>
            <p:cNvSpPr txBox="1"/>
            <p:nvPr/>
          </p:nvSpPr>
          <p:spPr>
            <a:xfrm>
              <a:off x="0" y="-38100"/>
              <a:ext cx="1760253" cy="183936"/>
            </a:xfrm>
            <a:prstGeom prst="rect">
              <a:avLst/>
            </a:prstGeom>
          </p:spPr>
          <p:txBody>
            <a:bodyPr lIns="50800" tIns="50800" rIns="50800" bIns="50800" rtlCol="0" anchor="ctr"/>
            <a:lstStyle/>
            <a:p>
              <a:pPr algn="ctr">
                <a:lnSpc>
                  <a:spcPts val="3080"/>
                </a:lnSpc>
              </a:pPr>
              <a:r>
                <a:rPr lang="en-US" sz="2200" dirty="0">
                  <a:solidFill>
                    <a:srgbClr val="055594"/>
                  </a:solidFill>
                  <a:latin typeface="Inter Bold"/>
                </a:rPr>
                <a:t>Serviceable Available Market (SAM)</a:t>
              </a:r>
              <a:endParaRPr lang="en-US" sz="2200" dirty="0">
                <a:solidFill>
                  <a:srgbClr val="055594"/>
                </a:solidFill>
                <a:latin typeface="Inter Bold"/>
              </a:endParaRPr>
            </a:p>
          </p:txBody>
        </p:sp>
      </p:grpSp>
      <p:grpSp>
        <p:nvGrpSpPr>
          <p:cNvPr id="23" name="Group 23"/>
          <p:cNvGrpSpPr/>
          <p:nvPr/>
        </p:nvGrpSpPr>
        <p:grpSpPr>
          <a:xfrm>
            <a:off x="10096657" y="7083798"/>
            <a:ext cx="6683462" cy="553720"/>
            <a:chOff x="0" y="0"/>
            <a:chExt cx="1760253" cy="145836"/>
          </a:xfrm>
        </p:grpSpPr>
        <p:sp>
          <p:nvSpPr>
            <p:cNvPr id="24" name="Freeform 24"/>
            <p:cNvSpPr/>
            <p:nvPr/>
          </p:nvSpPr>
          <p:spPr>
            <a:xfrm>
              <a:off x="0" y="0"/>
              <a:ext cx="1760253" cy="145836"/>
            </a:xfrm>
            <a:custGeom>
              <a:avLst/>
              <a:gdLst/>
              <a:ahLst/>
              <a:cxnLst/>
              <a:rect l="l" t="t" r="r" b="b"/>
              <a:pathLst>
                <a:path w="1760253" h="145836">
                  <a:moveTo>
                    <a:pt x="59077" y="0"/>
                  </a:moveTo>
                  <a:lnTo>
                    <a:pt x="1701177" y="0"/>
                  </a:lnTo>
                  <a:cubicBezTo>
                    <a:pt x="1716845" y="0"/>
                    <a:pt x="1731871" y="6224"/>
                    <a:pt x="1742950" y="17303"/>
                  </a:cubicBezTo>
                  <a:cubicBezTo>
                    <a:pt x="1754029" y="28382"/>
                    <a:pt x="1760253" y="43409"/>
                    <a:pt x="1760253" y="59077"/>
                  </a:cubicBezTo>
                  <a:lnTo>
                    <a:pt x="1760253" y="86759"/>
                  </a:lnTo>
                  <a:cubicBezTo>
                    <a:pt x="1760253" y="119386"/>
                    <a:pt x="1733804" y="145836"/>
                    <a:pt x="1701177" y="145836"/>
                  </a:cubicBezTo>
                  <a:lnTo>
                    <a:pt x="59077" y="145836"/>
                  </a:lnTo>
                  <a:cubicBezTo>
                    <a:pt x="43409" y="145836"/>
                    <a:pt x="28382" y="139611"/>
                    <a:pt x="17303" y="128532"/>
                  </a:cubicBezTo>
                  <a:cubicBezTo>
                    <a:pt x="6224" y="117453"/>
                    <a:pt x="0" y="102427"/>
                    <a:pt x="0" y="86759"/>
                  </a:cubicBezTo>
                  <a:lnTo>
                    <a:pt x="0" y="59077"/>
                  </a:lnTo>
                  <a:cubicBezTo>
                    <a:pt x="0" y="26450"/>
                    <a:pt x="26450" y="0"/>
                    <a:pt x="59077" y="0"/>
                  </a:cubicBezTo>
                  <a:close/>
                </a:path>
              </a:pathLst>
            </a:custGeom>
            <a:solidFill>
              <a:schemeClr val="bg1"/>
            </a:solidFill>
          </p:spPr>
          <p:txBody>
            <a:bodyPr/>
            <a:lstStyle/>
            <a:p>
              <a:endParaRPr lang="en-US" dirty="0"/>
            </a:p>
          </p:txBody>
        </p:sp>
        <p:sp>
          <p:nvSpPr>
            <p:cNvPr id="25" name="TextBox 25"/>
            <p:cNvSpPr txBox="1"/>
            <p:nvPr/>
          </p:nvSpPr>
          <p:spPr>
            <a:xfrm>
              <a:off x="0" y="-38100"/>
              <a:ext cx="1760253" cy="183936"/>
            </a:xfrm>
            <a:prstGeom prst="rect">
              <a:avLst/>
            </a:prstGeom>
          </p:spPr>
          <p:txBody>
            <a:bodyPr lIns="50800" tIns="50800" rIns="50800" bIns="50800" rtlCol="0" anchor="ctr"/>
            <a:lstStyle/>
            <a:p>
              <a:pPr algn="ctr">
                <a:lnSpc>
                  <a:spcPts val="3080"/>
                </a:lnSpc>
              </a:pPr>
              <a:r>
                <a:rPr lang="en-US" sz="2200" dirty="0">
                  <a:solidFill>
                    <a:srgbClr val="055594"/>
                  </a:solidFill>
                  <a:latin typeface="Inter Bold"/>
                </a:rPr>
                <a:t>Serviceable Obtainable Market (SOM)</a:t>
              </a:r>
              <a:endParaRPr lang="en-US" sz="2200" dirty="0">
                <a:solidFill>
                  <a:srgbClr val="055594"/>
                </a:solidFill>
                <a:latin typeface="Inter Bold"/>
              </a:endParaRPr>
            </a:p>
          </p:txBody>
        </p:sp>
      </p:grpSp>
      <p:sp>
        <p:nvSpPr>
          <p:cNvPr id="26" name="TextBox 26"/>
          <p:cNvSpPr txBox="1"/>
          <p:nvPr/>
        </p:nvSpPr>
        <p:spPr>
          <a:xfrm>
            <a:off x="10096657" y="1324917"/>
            <a:ext cx="7455348" cy="1692910"/>
          </a:xfrm>
          <a:prstGeom prst="rect">
            <a:avLst/>
          </a:prstGeom>
        </p:spPr>
        <p:txBody>
          <a:bodyPr lIns="0" tIns="0" rIns="0" bIns="0" rtlCol="0" anchor="t">
            <a:spAutoFit/>
          </a:bodyPr>
          <a:lstStyle/>
          <a:p>
            <a:pPr marL="0" indent="0" algn="just">
              <a:lnSpc>
                <a:spcPts val="3410"/>
              </a:lnSpc>
            </a:pPr>
            <a:r>
              <a:rPr lang="en-US" sz="2200" dirty="0">
                <a:solidFill>
                  <a:schemeClr val="bg1"/>
                </a:solidFill>
                <a:latin typeface="Open Sans"/>
              </a:rPr>
              <a:t>The Total Available Market (TAM) represents the entire potential demand for our product or service, reflecting the vast landscape of opportunities awaiting exploration and market capture.</a:t>
            </a:r>
            <a:endParaRPr lang="en-US" sz="2200" dirty="0">
              <a:solidFill>
                <a:schemeClr val="bg1"/>
              </a:solidFill>
              <a:latin typeface="Open Sans"/>
            </a:endParaRPr>
          </a:p>
        </p:txBody>
      </p:sp>
      <p:sp>
        <p:nvSpPr>
          <p:cNvPr id="27" name="TextBox 27"/>
          <p:cNvSpPr txBox="1"/>
          <p:nvPr/>
        </p:nvSpPr>
        <p:spPr>
          <a:xfrm>
            <a:off x="10096657" y="4324089"/>
            <a:ext cx="7455348" cy="2143920"/>
          </a:xfrm>
          <a:prstGeom prst="rect">
            <a:avLst/>
          </a:prstGeom>
        </p:spPr>
        <p:txBody>
          <a:bodyPr lIns="0" tIns="0" rIns="0" bIns="0" rtlCol="0" anchor="t">
            <a:spAutoFit/>
          </a:bodyPr>
          <a:lstStyle/>
          <a:p>
            <a:pPr marL="0" indent="0" algn="just">
              <a:lnSpc>
                <a:spcPts val="3410"/>
              </a:lnSpc>
            </a:pPr>
            <a:r>
              <a:rPr lang="en-US" sz="2200" dirty="0">
                <a:solidFill>
                  <a:schemeClr val="bg1"/>
                </a:solidFill>
                <a:latin typeface="Open Sans"/>
              </a:rPr>
              <a:t>The Serviceable Available Market (SAM) represents the specific segment of the Total Available Market where our product or service can be realistically and effectively offered, defining the target audience for our strategic market approach</a:t>
            </a:r>
            <a:r>
              <a:rPr lang="en-US" sz="2200" dirty="0">
                <a:solidFill>
                  <a:srgbClr val="000000"/>
                </a:solidFill>
                <a:latin typeface="Open Sans"/>
              </a:rPr>
              <a:t>.</a:t>
            </a:r>
            <a:endParaRPr lang="en-US" sz="2200" dirty="0">
              <a:solidFill>
                <a:srgbClr val="000000"/>
              </a:solidFill>
              <a:latin typeface="Open Sans"/>
            </a:endParaRPr>
          </a:p>
        </p:txBody>
      </p:sp>
      <p:sp>
        <p:nvSpPr>
          <p:cNvPr id="31" name="TextBox 31"/>
          <p:cNvSpPr txBox="1"/>
          <p:nvPr/>
        </p:nvSpPr>
        <p:spPr>
          <a:xfrm>
            <a:off x="10096657" y="7755492"/>
            <a:ext cx="7455348" cy="2143920"/>
          </a:xfrm>
          <a:prstGeom prst="rect">
            <a:avLst/>
          </a:prstGeom>
        </p:spPr>
        <p:txBody>
          <a:bodyPr lIns="0" tIns="0" rIns="0" bIns="0" rtlCol="0" anchor="t">
            <a:spAutoFit/>
          </a:bodyPr>
          <a:lstStyle/>
          <a:p>
            <a:pPr marL="0" indent="0" algn="just">
              <a:lnSpc>
                <a:spcPts val="3410"/>
              </a:lnSpc>
            </a:pPr>
            <a:r>
              <a:rPr lang="en-US" sz="2200" dirty="0">
                <a:solidFill>
                  <a:schemeClr val="bg1"/>
                </a:solidFill>
                <a:latin typeface="Open Sans"/>
              </a:rPr>
              <a:t>The Serviceable Obtainable Market (SOM) signifies the realistic and achievable portion of the Serviceable Available Market where our business aims to capture market share, emphasizing our practical and strategic approach to market penetration.</a:t>
            </a:r>
            <a:endParaRPr lang="en-US" sz="2200" dirty="0">
              <a:solidFill>
                <a:schemeClr val="bg1"/>
              </a:solidFill>
              <a:latin typeface="Open Sans"/>
            </a:endParaRPr>
          </a:p>
        </p:txBody>
      </p:sp>
      <p:sp>
        <p:nvSpPr>
          <p:cNvPr id="34" name="TextBox 8"/>
          <p:cNvSpPr txBox="1"/>
          <p:nvPr/>
        </p:nvSpPr>
        <p:spPr>
          <a:xfrm>
            <a:off x="1025841" y="3233172"/>
            <a:ext cx="6166481" cy="5859320"/>
          </a:xfrm>
          <a:prstGeom prst="rect">
            <a:avLst/>
          </a:prstGeom>
        </p:spPr>
        <p:txBody>
          <a:bodyPr lIns="50800" tIns="50800" rIns="50800" bIns="50800" rtlCol="0" anchor="ctr"/>
          <a:lstStyle/>
          <a:p>
            <a:pPr algn="ctr">
              <a:lnSpc>
                <a:spcPts val="2120"/>
              </a:lnSpc>
            </a:pPr>
          </a:p>
        </p:txBody>
      </p:sp>
      <p:grpSp>
        <p:nvGrpSpPr>
          <p:cNvPr id="35" name="Group 6"/>
          <p:cNvGrpSpPr/>
          <p:nvPr/>
        </p:nvGrpSpPr>
        <p:grpSpPr>
          <a:xfrm>
            <a:off x="152685" y="2897886"/>
            <a:ext cx="9135793" cy="8780881"/>
            <a:chOff x="0" y="0"/>
            <a:chExt cx="812800" cy="812800"/>
          </a:xfrm>
        </p:grpSpPr>
        <p:sp>
          <p:nvSpPr>
            <p:cNvPr id="36"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2B2C30"/>
              </a:solidFill>
              <a:prstDash val="solid"/>
              <a:miter/>
            </a:ln>
          </p:spPr>
          <p:txBody>
            <a:bodyPr/>
            <a:lstStyle/>
            <a:p>
              <a:endParaRPr lang="en-US" sz="1000"/>
            </a:p>
          </p:txBody>
        </p:sp>
        <p:sp>
          <p:nvSpPr>
            <p:cNvPr id="37" name="TextBox 8"/>
            <p:cNvSpPr txBox="1"/>
            <p:nvPr/>
          </p:nvSpPr>
          <p:spPr>
            <a:xfrm>
              <a:off x="76200" y="85725"/>
              <a:ext cx="660400" cy="650875"/>
            </a:xfrm>
            <a:prstGeom prst="rect">
              <a:avLst/>
            </a:prstGeom>
          </p:spPr>
          <p:txBody>
            <a:bodyPr lIns="50800" tIns="50800" rIns="50800" bIns="50800" rtlCol="0" anchor="ctr"/>
            <a:lstStyle/>
            <a:p>
              <a:pPr algn="ctr">
                <a:lnSpc>
                  <a:spcPts val="2120"/>
                </a:lnSpc>
              </a:pPr>
              <a:endParaRPr sz="1000"/>
            </a:p>
          </p:txBody>
        </p:sp>
      </p:grpSp>
      <p:grpSp>
        <p:nvGrpSpPr>
          <p:cNvPr id="38" name="Group 9"/>
          <p:cNvGrpSpPr/>
          <p:nvPr/>
        </p:nvGrpSpPr>
        <p:grpSpPr>
          <a:xfrm>
            <a:off x="735995" y="4007666"/>
            <a:ext cx="7798405" cy="7422728"/>
            <a:chOff x="0" y="0"/>
            <a:chExt cx="812800" cy="812800"/>
          </a:xfrm>
        </p:grpSpPr>
        <p:sp>
          <p:nvSpPr>
            <p:cNvPr id="39"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2B2C30"/>
              </a:solidFill>
              <a:prstDash val="solid"/>
              <a:miter/>
            </a:ln>
          </p:spPr>
          <p:txBody>
            <a:bodyPr/>
            <a:lstStyle/>
            <a:p>
              <a:endParaRPr lang="en-US" sz="1000" dirty="0"/>
            </a:p>
          </p:txBody>
        </p:sp>
        <p:sp>
          <p:nvSpPr>
            <p:cNvPr id="40" name="TextBox 11"/>
            <p:cNvSpPr txBox="1"/>
            <p:nvPr/>
          </p:nvSpPr>
          <p:spPr>
            <a:xfrm>
              <a:off x="76200" y="85725"/>
              <a:ext cx="660400" cy="650875"/>
            </a:xfrm>
            <a:prstGeom prst="rect">
              <a:avLst/>
            </a:prstGeom>
          </p:spPr>
          <p:txBody>
            <a:bodyPr lIns="50800" tIns="50800" rIns="50800" bIns="50800" rtlCol="0" anchor="ctr"/>
            <a:lstStyle/>
            <a:p>
              <a:pPr algn="ctr">
                <a:lnSpc>
                  <a:spcPts val="2120"/>
                </a:lnSpc>
              </a:pPr>
              <a:endParaRPr sz="1000"/>
            </a:p>
          </p:txBody>
        </p:sp>
      </p:grpSp>
      <p:grpSp>
        <p:nvGrpSpPr>
          <p:cNvPr id="41" name="Group 12"/>
          <p:cNvGrpSpPr/>
          <p:nvPr/>
        </p:nvGrpSpPr>
        <p:grpSpPr>
          <a:xfrm>
            <a:off x="1555862" y="5485233"/>
            <a:ext cx="6040550" cy="5633285"/>
            <a:chOff x="0" y="0"/>
            <a:chExt cx="812800" cy="812800"/>
          </a:xfrm>
        </p:grpSpPr>
        <p:sp>
          <p:nvSpPr>
            <p:cNvPr id="42"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2B2C30"/>
              </a:solidFill>
              <a:prstDash val="solid"/>
              <a:miter/>
            </a:ln>
          </p:spPr>
          <p:txBody>
            <a:bodyPr/>
            <a:lstStyle/>
            <a:p>
              <a:endParaRPr lang="en-US" sz="1000" dirty="0"/>
            </a:p>
          </p:txBody>
        </p:sp>
        <p:sp>
          <p:nvSpPr>
            <p:cNvPr id="43" name="TextBox 14"/>
            <p:cNvSpPr txBox="1"/>
            <p:nvPr/>
          </p:nvSpPr>
          <p:spPr>
            <a:xfrm>
              <a:off x="76200" y="85725"/>
              <a:ext cx="660400" cy="650875"/>
            </a:xfrm>
            <a:prstGeom prst="rect">
              <a:avLst/>
            </a:prstGeom>
          </p:spPr>
          <p:txBody>
            <a:bodyPr lIns="50800" tIns="50800" rIns="50800" bIns="50800" rtlCol="0" anchor="ctr"/>
            <a:lstStyle/>
            <a:p>
              <a:pPr algn="ctr">
                <a:lnSpc>
                  <a:spcPts val="2120"/>
                </a:lnSpc>
              </a:pPr>
              <a:endParaRPr sz="100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414606" y="1943100"/>
            <a:ext cx="2889039" cy="725042"/>
            <a:chOff x="0" y="0"/>
            <a:chExt cx="792168" cy="198805"/>
          </a:xfrm>
        </p:grpSpPr>
        <p:sp>
          <p:nvSpPr>
            <p:cNvPr id="6" name="Freeform 6"/>
            <p:cNvSpPr/>
            <p:nvPr/>
          </p:nvSpPr>
          <p:spPr>
            <a:xfrm>
              <a:off x="0" y="0"/>
              <a:ext cx="792168" cy="198805"/>
            </a:xfrm>
            <a:custGeom>
              <a:avLst/>
              <a:gdLst/>
              <a:ahLst/>
              <a:cxnLst/>
              <a:rect l="l" t="t" r="r" b="b"/>
              <a:pathLst>
                <a:path w="792168" h="198805">
                  <a:moveTo>
                    <a:pt x="0" y="0"/>
                  </a:moveTo>
                  <a:lnTo>
                    <a:pt x="792168" y="0"/>
                  </a:lnTo>
                  <a:lnTo>
                    <a:pt x="792168" y="198805"/>
                  </a:lnTo>
                  <a:lnTo>
                    <a:pt x="0" y="198805"/>
                  </a:lnTo>
                  <a:lnTo>
                    <a:pt x="0" y="0"/>
                  </a:lnTo>
                  <a:close/>
                </a:path>
              </a:pathLst>
            </a:custGeom>
            <a:solidFill>
              <a:srgbClr val="0059AA"/>
            </a:solidFill>
            <a:ln cap="sq">
              <a:noFill/>
              <a:prstDash val="solid"/>
              <a:miter/>
            </a:ln>
          </p:spPr>
          <p:txBody>
            <a:bodyPr/>
            <a:lstStyle/>
            <a:p>
              <a:endParaRPr lang="en-US"/>
            </a:p>
          </p:txBody>
        </p:sp>
        <p:sp>
          <p:nvSpPr>
            <p:cNvPr id="7" name="TextBox 7"/>
            <p:cNvSpPr txBox="1"/>
            <p:nvPr/>
          </p:nvSpPr>
          <p:spPr>
            <a:xfrm>
              <a:off x="0" y="-57150"/>
              <a:ext cx="792168" cy="255955"/>
            </a:xfrm>
            <a:prstGeom prst="rect">
              <a:avLst/>
            </a:prstGeom>
          </p:spPr>
          <p:txBody>
            <a:bodyPr lIns="50800" tIns="50800" rIns="50800" bIns="50800" rtlCol="0" anchor="ctr"/>
            <a:lstStyle/>
            <a:p>
              <a:pPr algn="ctr">
                <a:lnSpc>
                  <a:spcPts val="3080"/>
                </a:lnSpc>
              </a:pPr>
              <a:r>
                <a:rPr lang="en-US" sz="2200" dirty="0">
                  <a:solidFill>
                    <a:srgbClr val="F5FFF5"/>
                  </a:solidFill>
                  <a:latin typeface="Arimo Italics"/>
                </a:rPr>
                <a:t>Feature</a:t>
              </a:r>
              <a:endParaRPr lang="en-US" sz="2200" dirty="0">
                <a:solidFill>
                  <a:srgbClr val="F5FFF5"/>
                </a:solidFill>
                <a:latin typeface="Arimo Italics"/>
              </a:endParaRPr>
            </a:p>
          </p:txBody>
        </p:sp>
      </p:grpSp>
      <p:grpSp>
        <p:nvGrpSpPr>
          <p:cNvPr id="8" name="Group 8"/>
          <p:cNvGrpSpPr/>
          <p:nvPr/>
        </p:nvGrpSpPr>
        <p:grpSpPr>
          <a:xfrm>
            <a:off x="10570065" y="1943100"/>
            <a:ext cx="2889039" cy="725042"/>
            <a:chOff x="0" y="0"/>
            <a:chExt cx="792168" cy="198805"/>
          </a:xfrm>
        </p:grpSpPr>
        <p:sp>
          <p:nvSpPr>
            <p:cNvPr id="9" name="Freeform 9"/>
            <p:cNvSpPr/>
            <p:nvPr/>
          </p:nvSpPr>
          <p:spPr>
            <a:xfrm>
              <a:off x="0" y="0"/>
              <a:ext cx="792168" cy="198805"/>
            </a:xfrm>
            <a:custGeom>
              <a:avLst/>
              <a:gdLst/>
              <a:ahLst/>
              <a:cxnLst/>
              <a:rect l="l" t="t" r="r" b="b"/>
              <a:pathLst>
                <a:path w="792168" h="198805">
                  <a:moveTo>
                    <a:pt x="0" y="0"/>
                  </a:moveTo>
                  <a:lnTo>
                    <a:pt x="792168" y="0"/>
                  </a:lnTo>
                  <a:lnTo>
                    <a:pt x="792168" y="198805"/>
                  </a:lnTo>
                  <a:lnTo>
                    <a:pt x="0" y="198805"/>
                  </a:lnTo>
                  <a:lnTo>
                    <a:pt x="0" y="0"/>
                  </a:lnTo>
                  <a:close/>
                </a:path>
              </a:pathLst>
            </a:custGeom>
            <a:solidFill>
              <a:srgbClr val="0059AA"/>
            </a:solidFill>
            <a:ln cap="sq">
              <a:noFill/>
              <a:prstDash val="solid"/>
              <a:miter/>
            </a:ln>
          </p:spPr>
          <p:txBody>
            <a:bodyPr/>
            <a:lstStyle/>
            <a:p>
              <a:endParaRPr lang="en-US"/>
            </a:p>
          </p:txBody>
        </p:sp>
        <p:sp>
          <p:nvSpPr>
            <p:cNvPr id="10" name="TextBox 10"/>
            <p:cNvSpPr txBox="1"/>
            <p:nvPr/>
          </p:nvSpPr>
          <p:spPr>
            <a:xfrm>
              <a:off x="0" y="-57150"/>
              <a:ext cx="792168" cy="255955"/>
            </a:xfrm>
            <a:prstGeom prst="rect">
              <a:avLst/>
            </a:prstGeom>
          </p:spPr>
          <p:txBody>
            <a:bodyPr lIns="50800" tIns="50800" rIns="50800" bIns="50800" rtlCol="0" anchor="ctr"/>
            <a:lstStyle/>
            <a:p>
              <a:pPr algn="ctr">
                <a:lnSpc>
                  <a:spcPts val="3080"/>
                </a:lnSpc>
              </a:pPr>
              <a:r>
                <a:rPr lang="en-US" sz="2200" dirty="0">
                  <a:solidFill>
                    <a:srgbClr val="F5FFF5"/>
                  </a:solidFill>
                  <a:latin typeface="Arimo Italics"/>
                </a:rPr>
                <a:t>Feature</a:t>
              </a:r>
              <a:endParaRPr lang="en-US" sz="2200" dirty="0">
                <a:solidFill>
                  <a:srgbClr val="F5FFF5"/>
                </a:solidFill>
                <a:latin typeface="Arimo Italics"/>
              </a:endParaRPr>
            </a:p>
          </p:txBody>
        </p:sp>
      </p:grpSp>
      <p:grpSp>
        <p:nvGrpSpPr>
          <p:cNvPr id="11" name="Group 11"/>
          <p:cNvGrpSpPr/>
          <p:nvPr/>
        </p:nvGrpSpPr>
        <p:grpSpPr>
          <a:xfrm>
            <a:off x="4215061" y="1943100"/>
            <a:ext cx="2889039" cy="725042"/>
            <a:chOff x="0" y="0"/>
            <a:chExt cx="792168" cy="198805"/>
          </a:xfrm>
        </p:grpSpPr>
        <p:sp>
          <p:nvSpPr>
            <p:cNvPr id="12" name="Freeform 12"/>
            <p:cNvSpPr/>
            <p:nvPr/>
          </p:nvSpPr>
          <p:spPr>
            <a:xfrm>
              <a:off x="0" y="0"/>
              <a:ext cx="792168" cy="198805"/>
            </a:xfrm>
            <a:custGeom>
              <a:avLst/>
              <a:gdLst/>
              <a:ahLst/>
              <a:cxnLst/>
              <a:rect l="l" t="t" r="r" b="b"/>
              <a:pathLst>
                <a:path w="792168" h="198805">
                  <a:moveTo>
                    <a:pt x="0" y="0"/>
                  </a:moveTo>
                  <a:lnTo>
                    <a:pt x="792168" y="0"/>
                  </a:lnTo>
                  <a:lnTo>
                    <a:pt x="792168" y="198805"/>
                  </a:lnTo>
                  <a:lnTo>
                    <a:pt x="0" y="198805"/>
                  </a:lnTo>
                  <a:lnTo>
                    <a:pt x="0" y="0"/>
                  </a:lnTo>
                  <a:close/>
                </a:path>
              </a:pathLst>
            </a:custGeom>
            <a:solidFill>
              <a:srgbClr val="0059AA"/>
            </a:solidFill>
            <a:ln cap="sq">
              <a:noFill/>
              <a:prstDash val="solid"/>
              <a:miter/>
            </a:ln>
          </p:spPr>
          <p:txBody>
            <a:bodyPr/>
            <a:lstStyle/>
            <a:p>
              <a:endParaRPr lang="en-US"/>
            </a:p>
          </p:txBody>
        </p:sp>
        <p:sp>
          <p:nvSpPr>
            <p:cNvPr id="13" name="TextBox 13"/>
            <p:cNvSpPr txBox="1"/>
            <p:nvPr/>
          </p:nvSpPr>
          <p:spPr>
            <a:xfrm>
              <a:off x="0" y="-57150"/>
              <a:ext cx="792168" cy="255955"/>
            </a:xfrm>
            <a:prstGeom prst="rect">
              <a:avLst/>
            </a:prstGeom>
          </p:spPr>
          <p:txBody>
            <a:bodyPr lIns="50800" tIns="50800" rIns="50800" bIns="50800" rtlCol="0" anchor="ctr"/>
            <a:lstStyle/>
            <a:p>
              <a:pPr algn="ctr">
                <a:lnSpc>
                  <a:spcPts val="3080"/>
                </a:lnSpc>
              </a:pPr>
              <a:r>
                <a:rPr lang="en-US" sz="2200" dirty="0">
                  <a:solidFill>
                    <a:srgbClr val="F5FFF5"/>
                  </a:solidFill>
                  <a:latin typeface="Arimo Italics"/>
                </a:rPr>
                <a:t>Feature</a:t>
              </a:r>
              <a:endParaRPr lang="en-US" sz="2200" dirty="0">
                <a:solidFill>
                  <a:srgbClr val="F5FFF5"/>
                </a:solidFill>
                <a:latin typeface="Arimo Italics"/>
              </a:endParaRPr>
            </a:p>
          </p:txBody>
        </p:sp>
      </p:grpSp>
      <p:grpSp>
        <p:nvGrpSpPr>
          <p:cNvPr id="20" name="Group 20"/>
          <p:cNvGrpSpPr/>
          <p:nvPr/>
        </p:nvGrpSpPr>
        <p:grpSpPr>
          <a:xfrm>
            <a:off x="7414606" y="4339104"/>
            <a:ext cx="2889039" cy="915832"/>
            <a:chOff x="0" y="0"/>
            <a:chExt cx="792168" cy="251119"/>
          </a:xfrm>
        </p:grpSpPr>
        <p:sp>
          <p:nvSpPr>
            <p:cNvPr id="21" name="Freeform 21"/>
            <p:cNvSpPr/>
            <p:nvPr/>
          </p:nvSpPr>
          <p:spPr>
            <a:xfrm>
              <a:off x="0" y="0"/>
              <a:ext cx="792168" cy="251119"/>
            </a:xfrm>
            <a:custGeom>
              <a:avLst/>
              <a:gdLst/>
              <a:ahLst/>
              <a:cxnLst/>
              <a:rect l="l" t="t" r="r" b="b"/>
              <a:pathLst>
                <a:path w="792168" h="251119">
                  <a:moveTo>
                    <a:pt x="0" y="0"/>
                  </a:moveTo>
                  <a:lnTo>
                    <a:pt x="792168" y="0"/>
                  </a:lnTo>
                  <a:lnTo>
                    <a:pt x="792168" y="251119"/>
                  </a:lnTo>
                  <a:lnTo>
                    <a:pt x="0" y="251119"/>
                  </a:lnTo>
                  <a:lnTo>
                    <a:pt x="0" y="0"/>
                  </a:lnTo>
                  <a:close/>
                </a:path>
              </a:pathLst>
            </a:custGeom>
            <a:solidFill>
              <a:srgbClr val="0059AA"/>
            </a:solidFill>
            <a:ln cap="sq">
              <a:noFill/>
              <a:prstDash val="solid"/>
              <a:miter/>
            </a:ln>
          </p:spPr>
          <p:txBody>
            <a:bodyPr/>
            <a:lstStyle/>
            <a:p>
              <a:endParaRPr lang="en-US"/>
            </a:p>
          </p:txBody>
        </p:sp>
        <p:sp>
          <p:nvSpPr>
            <p:cNvPr id="22" name="TextBox 22"/>
            <p:cNvSpPr txBox="1"/>
            <p:nvPr/>
          </p:nvSpPr>
          <p:spPr>
            <a:xfrm>
              <a:off x="0" y="-57150"/>
              <a:ext cx="792168" cy="308269"/>
            </a:xfrm>
            <a:prstGeom prst="rect">
              <a:avLst/>
            </a:prstGeom>
          </p:spPr>
          <p:txBody>
            <a:bodyPr lIns="50800" tIns="50800" rIns="50800" bIns="50800" rtlCol="0" anchor="ctr"/>
            <a:lstStyle/>
            <a:p>
              <a:pPr algn="ctr">
                <a:lnSpc>
                  <a:spcPts val="3080"/>
                </a:lnSpc>
              </a:pPr>
            </a:p>
          </p:txBody>
        </p:sp>
      </p:grpSp>
      <p:grpSp>
        <p:nvGrpSpPr>
          <p:cNvPr id="23" name="Group 23"/>
          <p:cNvGrpSpPr/>
          <p:nvPr/>
        </p:nvGrpSpPr>
        <p:grpSpPr>
          <a:xfrm>
            <a:off x="10617970" y="4339104"/>
            <a:ext cx="2889039" cy="915832"/>
            <a:chOff x="0" y="0"/>
            <a:chExt cx="792168" cy="251119"/>
          </a:xfrm>
        </p:grpSpPr>
        <p:sp>
          <p:nvSpPr>
            <p:cNvPr id="24" name="Freeform 24"/>
            <p:cNvSpPr/>
            <p:nvPr/>
          </p:nvSpPr>
          <p:spPr>
            <a:xfrm>
              <a:off x="0" y="0"/>
              <a:ext cx="792168" cy="251119"/>
            </a:xfrm>
            <a:custGeom>
              <a:avLst/>
              <a:gdLst/>
              <a:ahLst/>
              <a:cxnLst/>
              <a:rect l="l" t="t" r="r" b="b"/>
              <a:pathLst>
                <a:path w="792168" h="251119">
                  <a:moveTo>
                    <a:pt x="0" y="0"/>
                  </a:moveTo>
                  <a:lnTo>
                    <a:pt x="792168" y="0"/>
                  </a:lnTo>
                  <a:lnTo>
                    <a:pt x="792168" y="251119"/>
                  </a:lnTo>
                  <a:lnTo>
                    <a:pt x="0" y="251119"/>
                  </a:lnTo>
                  <a:lnTo>
                    <a:pt x="0" y="0"/>
                  </a:lnTo>
                  <a:close/>
                </a:path>
              </a:pathLst>
            </a:custGeom>
            <a:solidFill>
              <a:srgbClr val="0059AA"/>
            </a:solidFill>
            <a:ln cap="sq">
              <a:noFill/>
              <a:prstDash val="solid"/>
              <a:miter/>
            </a:ln>
          </p:spPr>
          <p:txBody>
            <a:bodyPr/>
            <a:lstStyle/>
            <a:p>
              <a:endParaRPr lang="en-US"/>
            </a:p>
          </p:txBody>
        </p:sp>
        <p:sp>
          <p:nvSpPr>
            <p:cNvPr id="25" name="TextBox 25"/>
            <p:cNvSpPr txBox="1"/>
            <p:nvPr/>
          </p:nvSpPr>
          <p:spPr>
            <a:xfrm>
              <a:off x="0" y="-57150"/>
              <a:ext cx="792168" cy="308269"/>
            </a:xfrm>
            <a:prstGeom prst="rect">
              <a:avLst/>
            </a:prstGeom>
          </p:spPr>
          <p:txBody>
            <a:bodyPr lIns="50800" tIns="50800" rIns="50800" bIns="50800" rtlCol="0" anchor="ctr"/>
            <a:lstStyle/>
            <a:p>
              <a:pPr algn="ctr">
                <a:lnSpc>
                  <a:spcPts val="3080"/>
                </a:lnSpc>
              </a:pPr>
            </a:p>
          </p:txBody>
        </p:sp>
      </p:grpSp>
      <p:grpSp>
        <p:nvGrpSpPr>
          <p:cNvPr id="26" name="Group 26"/>
          <p:cNvGrpSpPr/>
          <p:nvPr/>
        </p:nvGrpSpPr>
        <p:grpSpPr>
          <a:xfrm>
            <a:off x="3832621" y="4269933"/>
            <a:ext cx="3267660" cy="1124258"/>
            <a:chOff x="0" y="-57150"/>
            <a:chExt cx="895985" cy="308269"/>
          </a:xfrm>
        </p:grpSpPr>
        <p:sp>
          <p:nvSpPr>
            <p:cNvPr id="27" name="Freeform 27"/>
            <p:cNvSpPr/>
            <p:nvPr/>
          </p:nvSpPr>
          <p:spPr>
            <a:xfrm>
              <a:off x="103817" y="-49039"/>
              <a:ext cx="792168" cy="251119"/>
            </a:xfrm>
            <a:custGeom>
              <a:avLst/>
              <a:gdLst/>
              <a:ahLst/>
              <a:cxnLst/>
              <a:rect l="l" t="t" r="r" b="b"/>
              <a:pathLst>
                <a:path w="792168" h="251119">
                  <a:moveTo>
                    <a:pt x="0" y="0"/>
                  </a:moveTo>
                  <a:lnTo>
                    <a:pt x="792168" y="0"/>
                  </a:lnTo>
                  <a:lnTo>
                    <a:pt x="792168" y="251119"/>
                  </a:lnTo>
                  <a:lnTo>
                    <a:pt x="0" y="251119"/>
                  </a:lnTo>
                  <a:lnTo>
                    <a:pt x="0" y="0"/>
                  </a:lnTo>
                  <a:close/>
                </a:path>
              </a:pathLst>
            </a:custGeom>
            <a:solidFill>
              <a:srgbClr val="0059AA"/>
            </a:solidFill>
            <a:ln cap="sq">
              <a:noFill/>
              <a:prstDash val="solid"/>
              <a:miter/>
            </a:ln>
          </p:spPr>
          <p:txBody>
            <a:bodyPr/>
            <a:lstStyle/>
            <a:p>
              <a:endParaRPr lang="en-US"/>
            </a:p>
          </p:txBody>
        </p:sp>
        <p:sp>
          <p:nvSpPr>
            <p:cNvPr id="28" name="TextBox 28"/>
            <p:cNvSpPr txBox="1"/>
            <p:nvPr/>
          </p:nvSpPr>
          <p:spPr>
            <a:xfrm>
              <a:off x="0" y="-57150"/>
              <a:ext cx="792168" cy="308269"/>
            </a:xfrm>
            <a:prstGeom prst="rect">
              <a:avLst/>
            </a:prstGeom>
          </p:spPr>
          <p:txBody>
            <a:bodyPr lIns="50800" tIns="50800" rIns="50800" bIns="50800" rtlCol="0" anchor="ctr"/>
            <a:lstStyle/>
            <a:p>
              <a:pPr algn="ctr">
                <a:lnSpc>
                  <a:spcPts val="3080"/>
                </a:lnSpc>
              </a:pPr>
            </a:p>
          </p:txBody>
        </p:sp>
      </p:grpSp>
      <p:grpSp>
        <p:nvGrpSpPr>
          <p:cNvPr id="29" name="Group 29"/>
          <p:cNvGrpSpPr/>
          <p:nvPr/>
        </p:nvGrpSpPr>
        <p:grpSpPr>
          <a:xfrm>
            <a:off x="7366701" y="5502586"/>
            <a:ext cx="2889039" cy="915832"/>
            <a:chOff x="0" y="0"/>
            <a:chExt cx="792168" cy="251119"/>
          </a:xfrm>
        </p:grpSpPr>
        <p:sp>
          <p:nvSpPr>
            <p:cNvPr id="30" name="Freeform 30"/>
            <p:cNvSpPr/>
            <p:nvPr/>
          </p:nvSpPr>
          <p:spPr>
            <a:xfrm>
              <a:off x="0" y="0"/>
              <a:ext cx="792168" cy="251119"/>
            </a:xfrm>
            <a:custGeom>
              <a:avLst/>
              <a:gdLst/>
              <a:ahLst/>
              <a:cxnLst/>
              <a:rect l="l" t="t" r="r" b="b"/>
              <a:pathLst>
                <a:path w="792168" h="251119">
                  <a:moveTo>
                    <a:pt x="0" y="0"/>
                  </a:moveTo>
                  <a:lnTo>
                    <a:pt x="792168" y="0"/>
                  </a:lnTo>
                  <a:lnTo>
                    <a:pt x="792168" y="251119"/>
                  </a:lnTo>
                  <a:lnTo>
                    <a:pt x="0" y="251119"/>
                  </a:lnTo>
                  <a:lnTo>
                    <a:pt x="0" y="0"/>
                  </a:lnTo>
                  <a:close/>
                </a:path>
              </a:pathLst>
            </a:custGeom>
            <a:solidFill>
              <a:srgbClr val="0059AA"/>
            </a:solidFill>
            <a:ln cap="sq">
              <a:noFill/>
              <a:prstDash val="solid"/>
              <a:miter/>
            </a:ln>
          </p:spPr>
          <p:txBody>
            <a:bodyPr/>
            <a:lstStyle/>
            <a:p>
              <a:endParaRPr lang="en-US"/>
            </a:p>
          </p:txBody>
        </p:sp>
        <p:sp>
          <p:nvSpPr>
            <p:cNvPr id="31" name="TextBox 31"/>
            <p:cNvSpPr txBox="1"/>
            <p:nvPr/>
          </p:nvSpPr>
          <p:spPr>
            <a:xfrm>
              <a:off x="0" y="-57150"/>
              <a:ext cx="792168" cy="308269"/>
            </a:xfrm>
            <a:prstGeom prst="rect">
              <a:avLst/>
            </a:prstGeom>
          </p:spPr>
          <p:txBody>
            <a:bodyPr lIns="50800" tIns="50800" rIns="50800" bIns="50800" rtlCol="0" anchor="ctr"/>
            <a:lstStyle/>
            <a:p>
              <a:pPr algn="ctr">
                <a:lnSpc>
                  <a:spcPts val="3080"/>
                </a:lnSpc>
              </a:pPr>
            </a:p>
          </p:txBody>
        </p:sp>
      </p:grpSp>
      <p:grpSp>
        <p:nvGrpSpPr>
          <p:cNvPr id="32" name="Group 32"/>
          <p:cNvGrpSpPr/>
          <p:nvPr/>
        </p:nvGrpSpPr>
        <p:grpSpPr>
          <a:xfrm>
            <a:off x="10617970" y="5502586"/>
            <a:ext cx="2889039" cy="915832"/>
            <a:chOff x="0" y="0"/>
            <a:chExt cx="792168" cy="251119"/>
          </a:xfrm>
        </p:grpSpPr>
        <p:sp>
          <p:nvSpPr>
            <p:cNvPr id="33" name="Freeform 33"/>
            <p:cNvSpPr/>
            <p:nvPr/>
          </p:nvSpPr>
          <p:spPr>
            <a:xfrm>
              <a:off x="0" y="0"/>
              <a:ext cx="792168" cy="251119"/>
            </a:xfrm>
            <a:custGeom>
              <a:avLst/>
              <a:gdLst/>
              <a:ahLst/>
              <a:cxnLst/>
              <a:rect l="l" t="t" r="r" b="b"/>
              <a:pathLst>
                <a:path w="792168" h="251119">
                  <a:moveTo>
                    <a:pt x="0" y="0"/>
                  </a:moveTo>
                  <a:lnTo>
                    <a:pt x="792168" y="0"/>
                  </a:lnTo>
                  <a:lnTo>
                    <a:pt x="792168" y="251119"/>
                  </a:lnTo>
                  <a:lnTo>
                    <a:pt x="0" y="251119"/>
                  </a:lnTo>
                  <a:lnTo>
                    <a:pt x="0" y="0"/>
                  </a:lnTo>
                  <a:close/>
                </a:path>
              </a:pathLst>
            </a:custGeom>
            <a:solidFill>
              <a:srgbClr val="0059AA"/>
            </a:solidFill>
            <a:ln cap="sq">
              <a:noFill/>
              <a:prstDash val="solid"/>
              <a:miter/>
            </a:ln>
          </p:spPr>
          <p:txBody>
            <a:bodyPr/>
            <a:lstStyle/>
            <a:p>
              <a:endParaRPr lang="en-US"/>
            </a:p>
          </p:txBody>
        </p:sp>
        <p:sp>
          <p:nvSpPr>
            <p:cNvPr id="34" name="TextBox 34"/>
            <p:cNvSpPr txBox="1"/>
            <p:nvPr/>
          </p:nvSpPr>
          <p:spPr>
            <a:xfrm>
              <a:off x="0" y="-57150"/>
              <a:ext cx="792168" cy="308269"/>
            </a:xfrm>
            <a:prstGeom prst="rect">
              <a:avLst/>
            </a:prstGeom>
          </p:spPr>
          <p:txBody>
            <a:bodyPr lIns="50800" tIns="50800" rIns="50800" bIns="50800" rtlCol="0" anchor="ctr"/>
            <a:lstStyle/>
            <a:p>
              <a:pPr algn="ctr">
                <a:lnSpc>
                  <a:spcPts val="3080"/>
                </a:lnSpc>
              </a:pPr>
            </a:p>
          </p:txBody>
        </p:sp>
      </p:grpSp>
      <p:grpSp>
        <p:nvGrpSpPr>
          <p:cNvPr id="35" name="Group 35"/>
          <p:cNvGrpSpPr/>
          <p:nvPr/>
        </p:nvGrpSpPr>
        <p:grpSpPr>
          <a:xfrm>
            <a:off x="4215061" y="5502586"/>
            <a:ext cx="2889039" cy="915832"/>
            <a:chOff x="0" y="0"/>
            <a:chExt cx="792168" cy="251119"/>
          </a:xfrm>
        </p:grpSpPr>
        <p:sp>
          <p:nvSpPr>
            <p:cNvPr id="36" name="Freeform 36"/>
            <p:cNvSpPr/>
            <p:nvPr/>
          </p:nvSpPr>
          <p:spPr>
            <a:xfrm>
              <a:off x="0" y="0"/>
              <a:ext cx="792168" cy="251119"/>
            </a:xfrm>
            <a:custGeom>
              <a:avLst/>
              <a:gdLst/>
              <a:ahLst/>
              <a:cxnLst/>
              <a:rect l="l" t="t" r="r" b="b"/>
              <a:pathLst>
                <a:path w="792168" h="251119">
                  <a:moveTo>
                    <a:pt x="0" y="0"/>
                  </a:moveTo>
                  <a:lnTo>
                    <a:pt x="792168" y="0"/>
                  </a:lnTo>
                  <a:lnTo>
                    <a:pt x="792168" y="251119"/>
                  </a:lnTo>
                  <a:lnTo>
                    <a:pt x="0" y="251119"/>
                  </a:lnTo>
                  <a:lnTo>
                    <a:pt x="0" y="0"/>
                  </a:lnTo>
                  <a:close/>
                </a:path>
              </a:pathLst>
            </a:custGeom>
            <a:solidFill>
              <a:srgbClr val="0059AA"/>
            </a:solidFill>
            <a:ln cap="sq">
              <a:noFill/>
              <a:prstDash val="solid"/>
              <a:miter/>
            </a:ln>
          </p:spPr>
          <p:txBody>
            <a:bodyPr/>
            <a:lstStyle/>
            <a:p>
              <a:endParaRPr lang="en-US"/>
            </a:p>
          </p:txBody>
        </p:sp>
        <p:sp>
          <p:nvSpPr>
            <p:cNvPr id="37" name="TextBox 37"/>
            <p:cNvSpPr txBox="1"/>
            <p:nvPr/>
          </p:nvSpPr>
          <p:spPr>
            <a:xfrm>
              <a:off x="0" y="-57150"/>
              <a:ext cx="792168" cy="308269"/>
            </a:xfrm>
            <a:prstGeom prst="rect">
              <a:avLst/>
            </a:prstGeom>
          </p:spPr>
          <p:txBody>
            <a:bodyPr lIns="50800" tIns="50800" rIns="50800" bIns="50800" rtlCol="0" anchor="ctr"/>
            <a:lstStyle/>
            <a:p>
              <a:pPr algn="ctr">
                <a:lnSpc>
                  <a:spcPts val="3080"/>
                </a:lnSpc>
              </a:pPr>
            </a:p>
          </p:txBody>
        </p:sp>
      </p:grpSp>
      <p:grpSp>
        <p:nvGrpSpPr>
          <p:cNvPr id="38" name="Group 38"/>
          <p:cNvGrpSpPr/>
          <p:nvPr/>
        </p:nvGrpSpPr>
        <p:grpSpPr>
          <a:xfrm>
            <a:off x="7412697" y="6666068"/>
            <a:ext cx="2889039" cy="915832"/>
            <a:chOff x="0" y="0"/>
            <a:chExt cx="792168" cy="251119"/>
          </a:xfrm>
        </p:grpSpPr>
        <p:sp>
          <p:nvSpPr>
            <p:cNvPr id="39" name="Freeform 39"/>
            <p:cNvSpPr/>
            <p:nvPr/>
          </p:nvSpPr>
          <p:spPr>
            <a:xfrm>
              <a:off x="0" y="0"/>
              <a:ext cx="792168" cy="251119"/>
            </a:xfrm>
            <a:custGeom>
              <a:avLst/>
              <a:gdLst/>
              <a:ahLst/>
              <a:cxnLst/>
              <a:rect l="l" t="t" r="r" b="b"/>
              <a:pathLst>
                <a:path w="792168" h="251119">
                  <a:moveTo>
                    <a:pt x="0" y="0"/>
                  </a:moveTo>
                  <a:lnTo>
                    <a:pt x="792168" y="0"/>
                  </a:lnTo>
                  <a:lnTo>
                    <a:pt x="792168" y="251119"/>
                  </a:lnTo>
                  <a:lnTo>
                    <a:pt x="0" y="251119"/>
                  </a:lnTo>
                  <a:lnTo>
                    <a:pt x="0" y="0"/>
                  </a:lnTo>
                  <a:close/>
                </a:path>
              </a:pathLst>
            </a:custGeom>
            <a:solidFill>
              <a:srgbClr val="0059AA"/>
            </a:solidFill>
            <a:ln cap="sq">
              <a:noFill/>
              <a:prstDash val="solid"/>
              <a:miter/>
            </a:ln>
          </p:spPr>
          <p:txBody>
            <a:bodyPr/>
            <a:lstStyle/>
            <a:p>
              <a:endParaRPr lang="en-US"/>
            </a:p>
          </p:txBody>
        </p:sp>
        <p:sp>
          <p:nvSpPr>
            <p:cNvPr id="40" name="TextBox 40"/>
            <p:cNvSpPr txBox="1"/>
            <p:nvPr/>
          </p:nvSpPr>
          <p:spPr>
            <a:xfrm>
              <a:off x="0" y="-57150"/>
              <a:ext cx="792168" cy="308269"/>
            </a:xfrm>
            <a:prstGeom prst="rect">
              <a:avLst/>
            </a:prstGeom>
          </p:spPr>
          <p:txBody>
            <a:bodyPr lIns="50800" tIns="50800" rIns="50800" bIns="50800" rtlCol="0" anchor="ctr"/>
            <a:lstStyle/>
            <a:p>
              <a:pPr algn="ctr">
                <a:lnSpc>
                  <a:spcPts val="3080"/>
                </a:lnSpc>
              </a:pPr>
            </a:p>
          </p:txBody>
        </p:sp>
      </p:grpSp>
      <p:grpSp>
        <p:nvGrpSpPr>
          <p:cNvPr id="41" name="Group 41"/>
          <p:cNvGrpSpPr/>
          <p:nvPr/>
        </p:nvGrpSpPr>
        <p:grpSpPr>
          <a:xfrm>
            <a:off x="10616061" y="6666068"/>
            <a:ext cx="2889039" cy="915832"/>
            <a:chOff x="0" y="0"/>
            <a:chExt cx="792168" cy="251119"/>
          </a:xfrm>
        </p:grpSpPr>
        <p:sp>
          <p:nvSpPr>
            <p:cNvPr id="42" name="Freeform 42"/>
            <p:cNvSpPr/>
            <p:nvPr/>
          </p:nvSpPr>
          <p:spPr>
            <a:xfrm>
              <a:off x="0" y="0"/>
              <a:ext cx="792168" cy="251119"/>
            </a:xfrm>
            <a:custGeom>
              <a:avLst/>
              <a:gdLst/>
              <a:ahLst/>
              <a:cxnLst/>
              <a:rect l="l" t="t" r="r" b="b"/>
              <a:pathLst>
                <a:path w="792168" h="251119">
                  <a:moveTo>
                    <a:pt x="0" y="0"/>
                  </a:moveTo>
                  <a:lnTo>
                    <a:pt x="792168" y="0"/>
                  </a:lnTo>
                  <a:lnTo>
                    <a:pt x="792168" y="251119"/>
                  </a:lnTo>
                  <a:lnTo>
                    <a:pt x="0" y="251119"/>
                  </a:lnTo>
                  <a:lnTo>
                    <a:pt x="0" y="0"/>
                  </a:lnTo>
                  <a:close/>
                </a:path>
              </a:pathLst>
            </a:custGeom>
            <a:solidFill>
              <a:srgbClr val="0059AA"/>
            </a:solidFill>
            <a:ln cap="sq">
              <a:noFill/>
              <a:prstDash val="solid"/>
              <a:miter/>
            </a:ln>
          </p:spPr>
          <p:txBody>
            <a:bodyPr/>
            <a:lstStyle/>
            <a:p>
              <a:endParaRPr lang="en-US"/>
            </a:p>
          </p:txBody>
        </p:sp>
        <p:sp>
          <p:nvSpPr>
            <p:cNvPr id="43" name="TextBox 43"/>
            <p:cNvSpPr txBox="1"/>
            <p:nvPr/>
          </p:nvSpPr>
          <p:spPr>
            <a:xfrm>
              <a:off x="0" y="-57150"/>
              <a:ext cx="792168" cy="308269"/>
            </a:xfrm>
            <a:prstGeom prst="rect">
              <a:avLst/>
            </a:prstGeom>
          </p:spPr>
          <p:txBody>
            <a:bodyPr lIns="50800" tIns="50800" rIns="50800" bIns="50800" rtlCol="0" anchor="ctr"/>
            <a:lstStyle/>
            <a:p>
              <a:pPr algn="ctr">
                <a:lnSpc>
                  <a:spcPts val="3080"/>
                </a:lnSpc>
              </a:pPr>
            </a:p>
          </p:txBody>
        </p:sp>
      </p:grpSp>
      <p:grpSp>
        <p:nvGrpSpPr>
          <p:cNvPr id="44" name="Group 44"/>
          <p:cNvGrpSpPr/>
          <p:nvPr/>
        </p:nvGrpSpPr>
        <p:grpSpPr>
          <a:xfrm>
            <a:off x="4213152" y="6666068"/>
            <a:ext cx="2889039" cy="915832"/>
            <a:chOff x="0" y="0"/>
            <a:chExt cx="792168" cy="251119"/>
          </a:xfrm>
        </p:grpSpPr>
        <p:sp>
          <p:nvSpPr>
            <p:cNvPr id="45" name="Freeform 45"/>
            <p:cNvSpPr/>
            <p:nvPr/>
          </p:nvSpPr>
          <p:spPr>
            <a:xfrm>
              <a:off x="0" y="0"/>
              <a:ext cx="792168" cy="251119"/>
            </a:xfrm>
            <a:custGeom>
              <a:avLst/>
              <a:gdLst/>
              <a:ahLst/>
              <a:cxnLst/>
              <a:rect l="l" t="t" r="r" b="b"/>
              <a:pathLst>
                <a:path w="792168" h="251119">
                  <a:moveTo>
                    <a:pt x="0" y="0"/>
                  </a:moveTo>
                  <a:lnTo>
                    <a:pt x="792168" y="0"/>
                  </a:lnTo>
                  <a:lnTo>
                    <a:pt x="792168" y="251119"/>
                  </a:lnTo>
                  <a:lnTo>
                    <a:pt x="0" y="251119"/>
                  </a:lnTo>
                  <a:lnTo>
                    <a:pt x="0" y="0"/>
                  </a:lnTo>
                  <a:close/>
                </a:path>
              </a:pathLst>
            </a:custGeom>
            <a:solidFill>
              <a:srgbClr val="0059AA"/>
            </a:solidFill>
            <a:ln cap="sq">
              <a:noFill/>
              <a:prstDash val="solid"/>
              <a:miter/>
            </a:ln>
          </p:spPr>
          <p:txBody>
            <a:bodyPr/>
            <a:lstStyle/>
            <a:p>
              <a:endParaRPr lang="en-US"/>
            </a:p>
          </p:txBody>
        </p:sp>
        <p:sp>
          <p:nvSpPr>
            <p:cNvPr id="46" name="TextBox 46"/>
            <p:cNvSpPr txBox="1"/>
            <p:nvPr/>
          </p:nvSpPr>
          <p:spPr>
            <a:xfrm>
              <a:off x="0" y="-57150"/>
              <a:ext cx="792168" cy="308269"/>
            </a:xfrm>
            <a:prstGeom prst="rect">
              <a:avLst/>
            </a:prstGeom>
          </p:spPr>
          <p:txBody>
            <a:bodyPr lIns="50800" tIns="50800" rIns="50800" bIns="50800" rtlCol="0" anchor="ctr"/>
            <a:lstStyle/>
            <a:p>
              <a:pPr algn="ctr">
                <a:lnSpc>
                  <a:spcPts val="3080"/>
                </a:lnSpc>
              </a:pPr>
            </a:p>
          </p:txBody>
        </p:sp>
      </p:grpSp>
      <p:sp>
        <p:nvSpPr>
          <p:cNvPr id="49" name="Freeform 49"/>
          <p:cNvSpPr/>
          <p:nvPr/>
        </p:nvSpPr>
        <p:spPr>
          <a:xfrm>
            <a:off x="11621531" y="6804089"/>
            <a:ext cx="853055" cy="639791"/>
          </a:xfrm>
          <a:custGeom>
            <a:avLst/>
            <a:gdLst/>
            <a:ahLst/>
            <a:cxnLst/>
            <a:rect l="l" t="t" r="r" b="b"/>
            <a:pathLst>
              <a:path w="853055" h="639791">
                <a:moveTo>
                  <a:pt x="0" y="0"/>
                </a:moveTo>
                <a:lnTo>
                  <a:pt x="853055" y="0"/>
                </a:lnTo>
                <a:lnTo>
                  <a:pt x="853055" y="639791"/>
                </a:lnTo>
                <a:lnTo>
                  <a:pt x="0" y="639791"/>
                </a:lnTo>
                <a:lnTo>
                  <a:pt x="0" y="0"/>
                </a:lnTo>
                <a:close/>
              </a:path>
            </a:pathLst>
          </a:custGeom>
          <a:blipFill>
            <a:blip r:embed="rId1"/>
            <a:srcRect/>
            <a:stretch>
              <a:fillRect/>
            </a:stretch>
          </a:blipFill>
        </p:spPr>
        <p:txBody>
          <a:bodyPr/>
          <a:lstStyle/>
          <a:p>
            <a:endParaRPr lang="en-US"/>
          </a:p>
        </p:txBody>
      </p:sp>
      <p:sp>
        <p:nvSpPr>
          <p:cNvPr id="51" name="Freeform 51"/>
          <p:cNvSpPr/>
          <p:nvPr/>
        </p:nvSpPr>
        <p:spPr>
          <a:xfrm>
            <a:off x="5185148" y="6804089"/>
            <a:ext cx="853055" cy="639791"/>
          </a:xfrm>
          <a:custGeom>
            <a:avLst/>
            <a:gdLst/>
            <a:ahLst/>
            <a:cxnLst/>
            <a:rect l="l" t="t" r="r" b="b"/>
            <a:pathLst>
              <a:path w="853055" h="639791">
                <a:moveTo>
                  <a:pt x="0" y="0"/>
                </a:moveTo>
                <a:lnTo>
                  <a:pt x="853055" y="0"/>
                </a:lnTo>
                <a:lnTo>
                  <a:pt x="853055" y="639791"/>
                </a:lnTo>
                <a:lnTo>
                  <a:pt x="0" y="639791"/>
                </a:lnTo>
                <a:lnTo>
                  <a:pt x="0" y="0"/>
                </a:lnTo>
                <a:close/>
              </a:path>
            </a:pathLst>
          </a:custGeom>
          <a:blipFill>
            <a:blip r:embed="rId1"/>
            <a:srcRect/>
            <a:stretch>
              <a:fillRect/>
            </a:stretch>
          </a:blipFill>
        </p:spPr>
        <p:txBody>
          <a:bodyPr/>
          <a:lstStyle/>
          <a:p>
            <a:endParaRPr lang="en-US"/>
          </a:p>
        </p:txBody>
      </p:sp>
      <p:sp>
        <p:nvSpPr>
          <p:cNvPr id="52" name="Freeform 52"/>
          <p:cNvSpPr/>
          <p:nvPr/>
        </p:nvSpPr>
        <p:spPr>
          <a:xfrm>
            <a:off x="11621531" y="4500845"/>
            <a:ext cx="853055" cy="639791"/>
          </a:xfrm>
          <a:custGeom>
            <a:avLst/>
            <a:gdLst/>
            <a:ahLst/>
            <a:cxnLst/>
            <a:rect l="l" t="t" r="r" b="b"/>
            <a:pathLst>
              <a:path w="853055" h="639791">
                <a:moveTo>
                  <a:pt x="0" y="0"/>
                </a:moveTo>
                <a:lnTo>
                  <a:pt x="853055" y="0"/>
                </a:lnTo>
                <a:lnTo>
                  <a:pt x="853055" y="639791"/>
                </a:lnTo>
                <a:lnTo>
                  <a:pt x="0" y="639791"/>
                </a:lnTo>
                <a:lnTo>
                  <a:pt x="0" y="0"/>
                </a:lnTo>
                <a:close/>
              </a:path>
            </a:pathLst>
          </a:custGeom>
          <a:blipFill>
            <a:blip r:embed="rId1"/>
            <a:srcRect/>
            <a:stretch>
              <a:fillRect/>
            </a:stretch>
          </a:blipFill>
        </p:spPr>
        <p:txBody>
          <a:bodyPr/>
          <a:lstStyle/>
          <a:p>
            <a:endParaRPr lang="en-US"/>
          </a:p>
        </p:txBody>
      </p:sp>
      <p:grpSp>
        <p:nvGrpSpPr>
          <p:cNvPr id="57" name="Group 57"/>
          <p:cNvGrpSpPr/>
          <p:nvPr/>
        </p:nvGrpSpPr>
        <p:grpSpPr>
          <a:xfrm rot="-1692830">
            <a:off x="14021357" y="8673835"/>
            <a:ext cx="5961911" cy="4037729"/>
            <a:chOff x="0" y="0"/>
            <a:chExt cx="1634743" cy="1107136"/>
          </a:xfrm>
          <a:solidFill>
            <a:srgbClr val="055594"/>
          </a:solidFill>
        </p:grpSpPr>
        <p:sp>
          <p:nvSpPr>
            <p:cNvPr id="58" name="Freeform 58"/>
            <p:cNvSpPr/>
            <p:nvPr/>
          </p:nvSpPr>
          <p:spPr>
            <a:xfrm>
              <a:off x="0" y="0"/>
              <a:ext cx="1634743" cy="1107136"/>
            </a:xfrm>
            <a:custGeom>
              <a:avLst/>
              <a:gdLst/>
              <a:ahLst/>
              <a:cxnLst/>
              <a:rect l="l" t="t" r="r" b="b"/>
              <a:pathLst>
                <a:path w="1634743" h="1107136">
                  <a:moveTo>
                    <a:pt x="0" y="0"/>
                  </a:moveTo>
                  <a:lnTo>
                    <a:pt x="1634743" y="0"/>
                  </a:lnTo>
                  <a:lnTo>
                    <a:pt x="1634743" y="1107136"/>
                  </a:lnTo>
                  <a:lnTo>
                    <a:pt x="0" y="1107136"/>
                  </a:lnTo>
                  <a:lnTo>
                    <a:pt x="0" y="0"/>
                  </a:lnTo>
                  <a:close/>
                </a:path>
              </a:pathLst>
            </a:custGeom>
            <a:grpFill/>
            <a:ln cap="sq">
              <a:noFill/>
              <a:prstDash val="solid"/>
              <a:miter/>
            </a:ln>
          </p:spPr>
          <p:txBody>
            <a:bodyPr/>
            <a:lstStyle/>
            <a:p>
              <a:endParaRPr lang="en-US"/>
            </a:p>
          </p:txBody>
        </p:sp>
        <p:sp>
          <p:nvSpPr>
            <p:cNvPr id="59" name="TextBox 59"/>
            <p:cNvSpPr txBox="1"/>
            <p:nvPr/>
          </p:nvSpPr>
          <p:spPr>
            <a:xfrm>
              <a:off x="0" y="-57150"/>
              <a:ext cx="1634743" cy="1164286"/>
            </a:xfrm>
            <a:prstGeom prst="rect">
              <a:avLst/>
            </a:prstGeom>
            <a:grpFill/>
          </p:spPr>
          <p:txBody>
            <a:bodyPr lIns="50800" tIns="50800" rIns="50800" bIns="50800" rtlCol="0" anchor="ctr"/>
            <a:lstStyle/>
            <a:p>
              <a:pPr algn="ctr">
                <a:lnSpc>
                  <a:spcPts val="3080"/>
                </a:lnSpc>
              </a:pPr>
            </a:p>
          </p:txBody>
        </p:sp>
      </p:grpSp>
      <p:sp>
        <p:nvSpPr>
          <p:cNvPr id="60" name="TextBox 14"/>
          <p:cNvSpPr txBox="1"/>
          <p:nvPr/>
        </p:nvSpPr>
        <p:spPr>
          <a:xfrm>
            <a:off x="839945" y="552744"/>
            <a:ext cx="8147912" cy="994410"/>
          </a:xfrm>
          <a:prstGeom prst="rect">
            <a:avLst/>
          </a:prstGeom>
        </p:spPr>
        <p:txBody>
          <a:bodyPr lIns="0" tIns="0" rIns="0" bIns="0" rtlCol="0" anchor="t">
            <a:spAutoFit/>
          </a:bodyPr>
          <a:lstStyle/>
          <a:p>
            <a:pPr>
              <a:lnSpc>
                <a:spcPts val="7560"/>
              </a:lnSpc>
            </a:pPr>
            <a:r>
              <a:rPr lang="en-US" sz="7200" dirty="0">
                <a:solidFill>
                  <a:srgbClr val="055594"/>
                </a:solidFill>
                <a:latin typeface="Inter Bold"/>
              </a:rPr>
              <a:t>COMPETITION</a:t>
            </a:r>
            <a:endParaRPr lang="en-US" sz="7200" dirty="0">
              <a:solidFill>
                <a:srgbClr val="055594"/>
              </a:solidFill>
              <a:latin typeface="Inter Bold"/>
            </a:endParaRPr>
          </a:p>
        </p:txBody>
      </p:sp>
      <p:grpSp>
        <p:nvGrpSpPr>
          <p:cNvPr id="63" name="Group 38"/>
          <p:cNvGrpSpPr/>
          <p:nvPr/>
        </p:nvGrpSpPr>
        <p:grpSpPr>
          <a:xfrm>
            <a:off x="7412697" y="7906039"/>
            <a:ext cx="2889039" cy="915832"/>
            <a:chOff x="0" y="0"/>
            <a:chExt cx="792168" cy="251119"/>
          </a:xfrm>
        </p:grpSpPr>
        <p:sp>
          <p:nvSpPr>
            <p:cNvPr id="64" name="Freeform 39"/>
            <p:cNvSpPr/>
            <p:nvPr/>
          </p:nvSpPr>
          <p:spPr>
            <a:xfrm>
              <a:off x="0" y="0"/>
              <a:ext cx="792168" cy="251119"/>
            </a:xfrm>
            <a:custGeom>
              <a:avLst/>
              <a:gdLst/>
              <a:ahLst/>
              <a:cxnLst/>
              <a:rect l="l" t="t" r="r" b="b"/>
              <a:pathLst>
                <a:path w="792168" h="251119">
                  <a:moveTo>
                    <a:pt x="0" y="0"/>
                  </a:moveTo>
                  <a:lnTo>
                    <a:pt x="792168" y="0"/>
                  </a:lnTo>
                  <a:lnTo>
                    <a:pt x="792168" y="251119"/>
                  </a:lnTo>
                  <a:lnTo>
                    <a:pt x="0" y="251119"/>
                  </a:lnTo>
                  <a:lnTo>
                    <a:pt x="0" y="0"/>
                  </a:lnTo>
                  <a:close/>
                </a:path>
              </a:pathLst>
            </a:custGeom>
            <a:solidFill>
              <a:srgbClr val="0059AA"/>
            </a:solidFill>
            <a:ln cap="sq">
              <a:noFill/>
              <a:prstDash val="solid"/>
              <a:miter/>
            </a:ln>
          </p:spPr>
          <p:txBody>
            <a:bodyPr/>
            <a:lstStyle/>
            <a:p>
              <a:endParaRPr lang="en-US"/>
            </a:p>
          </p:txBody>
        </p:sp>
        <p:sp>
          <p:nvSpPr>
            <p:cNvPr id="65" name="TextBox 40"/>
            <p:cNvSpPr txBox="1"/>
            <p:nvPr/>
          </p:nvSpPr>
          <p:spPr>
            <a:xfrm>
              <a:off x="0" y="-57150"/>
              <a:ext cx="792168" cy="308269"/>
            </a:xfrm>
            <a:prstGeom prst="rect">
              <a:avLst/>
            </a:prstGeom>
          </p:spPr>
          <p:txBody>
            <a:bodyPr lIns="50800" tIns="50800" rIns="50800" bIns="50800" rtlCol="0" anchor="ctr"/>
            <a:lstStyle/>
            <a:p>
              <a:pPr algn="ctr">
                <a:lnSpc>
                  <a:spcPts val="3080"/>
                </a:lnSpc>
              </a:pPr>
            </a:p>
          </p:txBody>
        </p:sp>
      </p:grpSp>
      <p:grpSp>
        <p:nvGrpSpPr>
          <p:cNvPr id="66" name="Group 41"/>
          <p:cNvGrpSpPr/>
          <p:nvPr/>
        </p:nvGrpSpPr>
        <p:grpSpPr>
          <a:xfrm>
            <a:off x="10616061" y="7906039"/>
            <a:ext cx="2889039" cy="915832"/>
            <a:chOff x="0" y="0"/>
            <a:chExt cx="792168" cy="251119"/>
          </a:xfrm>
        </p:grpSpPr>
        <p:sp>
          <p:nvSpPr>
            <p:cNvPr id="67" name="Freeform 42"/>
            <p:cNvSpPr/>
            <p:nvPr/>
          </p:nvSpPr>
          <p:spPr>
            <a:xfrm>
              <a:off x="0" y="0"/>
              <a:ext cx="792168" cy="251119"/>
            </a:xfrm>
            <a:custGeom>
              <a:avLst/>
              <a:gdLst/>
              <a:ahLst/>
              <a:cxnLst/>
              <a:rect l="l" t="t" r="r" b="b"/>
              <a:pathLst>
                <a:path w="792168" h="251119">
                  <a:moveTo>
                    <a:pt x="0" y="0"/>
                  </a:moveTo>
                  <a:lnTo>
                    <a:pt x="792168" y="0"/>
                  </a:lnTo>
                  <a:lnTo>
                    <a:pt x="792168" y="251119"/>
                  </a:lnTo>
                  <a:lnTo>
                    <a:pt x="0" y="251119"/>
                  </a:lnTo>
                  <a:lnTo>
                    <a:pt x="0" y="0"/>
                  </a:lnTo>
                  <a:close/>
                </a:path>
              </a:pathLst>
            </a:custGeom>
            <a:solidFill>
              <a:srgbClr val="0059AA"/>
            </a:solidFill>
            <a:ln cap="sq">
              <a:noFill/>
              <a:prstDash val="solid"/>
              <a:miter/>
            </a:ln>
          </p:spPr>
          <p:txBody>
            <a:bodyPr/>
            <a:lstStyle/>
            <a:p>
              <a:endParaRPr lang="en-US"/>
            </a:p>
          </p:txBody>
        </p:sp>
        <p:sp>
          <p:nvSpPr>
            <p:cNvPr id="68" name="TextBox 43"/>
            <p:cNvSpPr txBox="1"/>
            <p:nvPr/>
          </p:nvSpPr>
          <p:spPr>
            <a:xfrm>
              <a:off x="0" y="-57150"/>
              <a:ext cx="792168" cy="308269"/>
            </a:xfrm>
            <a:prstGeom prst="rect">
              <a:avLst/>
            </a:prstGeom>
          </p:spPr>
          <p:txBody>
            <a:bodyPr lIns="50800" tIns="50800" rIns="50800" bIns="50800" rtlCol="0" anchor="ctr"/>
            <a:lstStyle/>
            <a:p>
              <a:pPr algn="ctr">
                <a:lnSpc>
                  <a:spcPts val="3080"/>
                </a:lnSpc>
              </a:pPr>
            </a:p>
          </p:txBody>
        </p:sp>
      </p:grpSp>
      <p:grpSp>
        <p:nvGrpSpPr>
          <p:cNvPr id="69" name="Group 44"/>
          <p:cNvGrpSpPr/>
          <p:nvPr/>
        </p:nvGrpSpPr>
        <p:grpSpPr>
          <a:xfrm>
            <a:off x="4213152" y="7906039"/>
            <a:ext cx="2889039" cy="915832"/>
            <a:chOff x="0" y="0"/>
            <a:chExt cx="792168" cy="251119"/>
          </a:xfrm>
        </p:grpSpPr>
        <p:sp>
          <p:nvSpPr>
            <p:cNvPr id="70" name="Freeform 45"/>
            <p:cNvSpPr/>
            <p:nvPr/>
          </p:nvSpPr>
          <p:spPr>
            <a:xfrm>
              <a:off x="0" y="0"/>
              <a:ext cx="792168" cy="251119"/>
            </a:xfrm>
            <a:custGeom>
              <a:avLst/>
              <a:gdLst/>
              <a:ahLst/>
              <a:cxnLst/>
              <a:rect l="l" t="t" r="r" b="b"/>
              <a:pathLst>
                <a:path w="792168" h="251119">
                  <a:moveTo>
                    <a:pt x="0" y="0"/>
                  </a:moveTo>
                  <a:lnTo>
                    <a:pt x="792168" y="0"/>
                  </a:lnTo>
                  <a:lnTo>
                    <a:pt x="792168" y="251119"/>
                  </a:lnTo>
                  <a:lnTo>
                    <a:pt x="0" y="251119"/>
                  </a:lnTo>
                  <a:lnTo>
                    <a:pt x="0" y="0"/>
                  </a:lnTo>
                  <a:close/>
                </a:path>
              </a:pathLst>
            </a:custGeom>
            <a:solidFill>
              <a:srgbClr val="0059AA"/>
            </a:solidFill>
            <a:ln cap="sq">
              <a:noFill/>
              <a:prstDash val="solid"/>
              <a:miter/>
            </a:ln>
          </p:spPr>
          <p:txBody>
            <a:bodyPr/>
            <a:lstStyle/>
            <a:p>
              <a:endParaRPr lang="en-US"/>
            </a:p>
          </p:txBody>
        </p:sp>
        <p:sp>
          <p:nvSpPr>
            <p:cNvPr id="71" name="TextBox 46"/>
            <p:cNvSpPr txBox="1"/>
            <p:nvPr/>
          </p:nvSpPr>
          <p:spPr>
            <a:xfrm>
              <a:off x="0" y="-57150"/>
              <a:ext cx="792168" cy="308269"/>
            </a:xfrm>
            <a:prstGeom prst="rect">
              <a:avLst/>
            </a:prstGeom>
          </p:spPr>
          <p:txBody>
            <a:bodyPr lIns="50800" tIns="50800" rIns="50800" bIns="50800" rtlCol="0" anchor="ctr"/>
            <a:lstStyle/>
            <a:p>
              <a:pPr algn="ctr">
                <a:lnSpc>
                  <a:spcPts val="3080"/>
                </a:lnSpc>
              </a:pPr>
            </a:p>
          </p:txBody>
        </p:sp>
      </p:grpSp>
      <p:sp>
        <p:nvSpPr>
          <p:cNvPr id="73" name="Freeform 51"/>
          <p:cNvSpPr/>
          <p:nvPr/>
        </p:nvSpPr>
        <p:spPr>
          <a:xfrm>
            <a:off x="8561329" y="7995694"/>
            <a:ext cx="853055" cy="639791"/>
          </a:xfrm>
          <a:custGeom>
            <a:avLst/>
            <a:gdLst/>
            <a:ahLst/>
            <a:cxnLst/>
            <a:rect l="l" t="t" r="r" b="b"/>
            <a:pathLst>
              <a:path w="853055" h="639791">
                <a:moveTo>
                  <a:pt x="0" y="0"/>
                </a:moveTo>
                <a:lnTo>
                  <a:pt x="853055" y="0"/>
                </a:lnTo>
                <a:lnTo>
                  <a:pt x="853055" y="639791"/>
                </a:lnTo>
                <a:lnTo>
                  <a:pt x="0" y="639791"/>
                </a:lnTo>
                <a:lnTo>
                  <a:pt x="0" y="0"/>
                </a:lnTo>
                <a:close/>
              </a:path>
            </a:pathLst>
          </a:custGeom>
          <a:blipFill>
            <a:blip r:embed="rId1"/>
            <a:srcRect/>
            <a:stretch>
              <a:fillRect/>
            </a:stretch>
          </a:blipFill>
        </p:spPr>
        <p:txBody>
          <a:bodyPr/>
          <a:lstStyle/>
          <a:p>
            <a:endParaRPr lang="en-US"/>
          </a:p>
        </p:txBody>
      </p:sp>
      <p:sp>
        <p:nvSpPr>
          <p:cNvPr id="74" name="TextBox 14"/>
          <p:cNvSpPr txBox="1"/>
          <p:nvPr/>
        </p:nvSpPr>
        <p:spPr>
          <a:xfrm>
            <a:off x="762000" y="3296967"/>
            <a:ext cx="3451151" cy="1431482"/>
          </a:xfrm>
          <a:prstGeom prst="rect">
            <a:avLst/>
          </a:prstGeom>
        </p:spPr>
        <p:txBody>
          <a:bodyPr lIns="0" tIns="0" rIns="0" bIns="0" rtlCol="0" anchor="t">
            <a:spAutoFit/>
          </a:bodyPr>
          <a:lstStyle/>
          <a:p>
            <a:pPr marL="0" indent="0" algn="ctr">
              <a:lnSpc>
                <a:spcPts val="3780"/>
              </a:lnSpc>
              <a:spcBef>
                <a:spcPct val="0"/>
              </a:spcBef>
            </a:pPr>
            <a:r>
              <a:rPr lang="en-US" sz="2700" dirty="0">
                <a:solidFill>
                  <a:srgbClr val="000000"/>
                </a:solidFill>
                <a:latin typeface="Arimo Bold Italics"/>
              </a:rPr>
              <a:t>Your Business</a:t>
            </a:r>
            <a:endParaRPr lang="en-US" sz="2700" dirty="0">
              <a:solidFill>
                <a:srgbClr val="000000"/>
              </a:solidFill>
              <a:latin typeface="Arimo Bold Italics"/>
            </a:endParaRPr>
          </a:p>
          <a:p>
            <a:pPr marL="0" indent="0" algn="ctr">
              <a:lnSpc>
                <a:spcPts val="3780"/>
              </a:lnSpc>
              <a:spcBef>
                <a:spcPct val="0"/>
              </a:spcBef>
            </a:pPr>
            <a:endParaRPr lang="en-US" sz="2700" dirty="0">
              <a:solidFill>
                <a:srgbClr val="000000"/>
              </a:solidFill>
              <a:latin typeface="Arimo Bold Italics"/>
            </a:endParaRPr>
          </a:p>
          <a:p>
            <a:pPr marL="0" indent="0" algn="ctr">
              <a:lnSpc>
                <a:spcPts val="3780"/>
              </a:lnSpc>
              <a:spcBef>
                <a:spcPct val="0"/>
              </a:spcBef>
            </a:pPr>
            <a:r>
              <a:rPr lang="en-US" sz="2700" dirty="0">
                <a:solidFill>
                  <a:srgbClr val="000000"/>
                </a:solidFill>
                <a:latin typeface="Arimo Bold Italics"/>
              </a:rPr>
              <a:t>Competitors </a:t>
            </a:r>
            <a:endParaRPr lang="en-US" sz="2700" dirty="0">
              <a:solidFill>
                <a:srgbClr val="000000"/>
              </a:solidFill>
              <a:latin typeface="Arimo Bold Italics"/>
            </a:endParaRPr>
          </a:p>
        </p:txBody>
      </p:sp>
      <p:grpSp>
        <p:nvGrpSpPr>
          <p:cNvPr id="75" name="Group 20"/>
          <p:cNvGrpSpPr/>
          <p:nvPr/>
        </p:nvGrpSpPr>
        <p:grpSpPr>
          <a:xfrm>
            <a:off x="7414606" y="3109560"/>
            <a:ext cx="2889039" cy="915832"/>
            <a:chOff x="0" y="0"/>
            <a:chExt cx="792168" cy="251119"/>
          </a:xfrm>
        </p:grpSpPr>
        <p:sp>
          <p:nvSpPr>
            <p:cNvPr id="76" name="Freeform 21"/>
            <p:cNvSpPr/>
            <p:nvPr/>
          </p:nvSpPr>
          <p:spPr>
            <a:xfrm>
              <a:off x="0" y="0"/>
              <a:ext cx="792168" cy="251119"/>
            </a:xfrm>
            <a:custGeom>
              <a:avLst/>
              <a:gdLst/>
              <a:ahLst/>
              <a:cxnLst/>
              <a:rect l="l" t="t" r="r" b="b"/>
              <a:pathLst>
                <a:path w="792168" h="251119">
                  <a:moveTo>
                    <a:pt x="0" y="0"/>
                  </a:moveTo>
                  <a:lnTo>
                    <a:pt x="792168" y="0"/>
                  </a:lnTo>
                  <a:lnTo>
                    <a:pt x="792168" y="251119"/>
                  </a:lnTo>
                  <a:lnTo>
                    <a:pt x="0" y="251119"/>
                  </a:lnTo>
                  <a:lnTo>
                    <a:pt x="0" y="0"/>
                  </a:lnTo>
                  <a:close/>
                </a:path>
              </a:pathLst>
            </a:custGeom>
            <a:solidFill>
              <a:srgbClr val="0059AA"/>
            </a:solidFill>
            <a:ln cap="sq">
              <a:noFill/>
              <a:prstDash val="solid"/>
              <a:miter/>
            </a:ln>
          </p:spPr>
          <p:txBody>
            <a:bodyPr/>
            <a:lstStyle/>
            <a:p>
              <a:endParaRPr lang="en-US"/>
            </a:p>
          </p:txBody>
        </p:sp>
        <p:sp>
          <p:nvSpPr>
            <p:cNvPr id="77" name="TextBox 22"/>
            <p:cNvSpPr txBox="1"/>
            <p:nvPr/>
          </p:nvSpPr>
          <p:spPr>
            <a:xfrm>
              <a:off x="0" y="-57150"/>
              <a:ext cx="792168" cy="308269"/>
            </a:xfrm>
            <a:prstGeom prst="rect">
              <a:avLst/>
            </a:prstGeom>
          </p:spPr>
          <p:txBody>
            <a:bodyPr lIns="50800" tIns="50800" rIns="50800" bIns="50800" rtlCol="0" anchor="ctr"/>
            <a:lstStyle/>
            <a:p>
              <a:pPr algn="ctr">
                <a:lnSpc>
                  <a:spcPts val="3080"/>
                </a:lnSpc>
              </a:pPr>
            </a:p>
          </p:txBody>
        </p:sp>
      </p:grpSp>
      <p:grpSp>
        <p:nvGrpSpPr>
          <p:cNvPr id="78" name="Group 23"/>
          <p:cNvGrpSpPr/>
          <p:nvPr/>
        </p:nvGrpSpPr>
        <p:grpSpPr>
          <a:xfrm>
            <a:off x="10617970" y="3109560"/>
            <a:ext cx="2889039" cy="915832"/>
            <a:chOff x="0" y="0"/>
            <a:chExt cx="792168" cy="251119"/>
          </a:xfrm>
        </p:grpSpPr>
        <p:sp>
          <p:nvSpPr>
            <p:cNvPr id="79" name="Freeform 24"/>
            <p:cNvSpPr/>
            <p:nvPr/>
          </p:nvSpPr>
          <p:spPr>
            <a:xfrm>
              <a:off x="0" y="0"/>
              <a:ext cx="792168" cy="251119"/>
            </a:xfrm>
            <a:custGeom>
              <a:avLst/>
              <a:gdLst/>
              <a:ahLst/>
              <a:cxnLst/>
              <a:rect l="l" t="t" r="r" b="b"/>
              <a:pathLst>
                <a:path w="792168" h="251119">
                  <a:moveTo>
                    <a:pt x="0" y="0"/>
                  </a:moveTo>
                  <a:lnTo>
                    <a:pt x="792168" y="0"/>
                  </a:lnTo>
                  <a:lnTo>
                    <a:pt x="792168" y="251119"/>
                  </a:lnTo>
                  <a:lnTo>
                    <a:pt x="0" y="251119"/>
                  </a:lnTo>
                  <a:lnTo>
                    <a:pt x="0" y="0"/>
                  </a:lnTo>
                  <a:close/>
                </a:path>
              </a:pathLst>
            </a:custGeom>
            <a:solidFill>
              <a:srgbClr val="0059AA"/>
            </a:solidFill>
            <a:ln cap="sq">
              <a:noFill/>
              <a:prstDash val="solid"/>
              <a:miter/>
            </a:ln>
          </p:spPr>
          <p:txBody>
            <a:bodyPr/>
            <a:lstStyle/>
            <a:p>
              <a:endParaRPr lang="en-US"/>
            </a:p>
          </p:txBody>
        </p:sp>
        <p:sp>
          <p:nvSpPr>
            <p:cNvPr id="80" name="TextBox 25"/>
            <p:cNvSpPr txBox="1"/>
            <p:nvPr/>
          </p:nvSpPr>
          <p:spPr>
            <a:xfrm>
              <a:off x="0" y="-57150"/>
              <a:ext cx="792168" cy="308269"/>
            </a:xfrm>
            <a:prstGeom prst="rect">
              <a:avLst/>
            </a:prstGeom>
          </p:spPr>
          <p:txBody>
            <a:bodyPr lIns="50800" tIns="50800" rIns="50800" bIns="50800" rtlCol="0" anchor="ctr"/>
            <a:lstStyle/>
            <a:p>
              <a:pPr algn="ctr">
                <a:lnSpc>
                  <a:spcPts val="3080"/>
                </a:lnSpc>
              </a:pPr>
            </a:p>
          </p:txBody>
        </p:sp>
      </p:grpSp>
      <p:grpSp>
        <p:nvGrpSpPr>
          <p:cNvPr id="81" name="Group 26"/>
          <p:cNvGrpSpPr/>
          <p:nvPr/>
        </p:nvGrpSpPr>
        <p:grpSpPr>
          <a:xfrm>
            <a:off x="4215061" y="3109560"/>
            <a:ext cx="2889039" cy="915832"/>
            <a:chOff x="0" y="0"/>
            <a:chExt cx="792168" cy="251119"/>
          </a:xfrm>
        </p:grpSpPr>
        <p:sp>
          <p:nvSpPr>
            <p:cNvPr id="82" name="Freeform 27"/>
            <p:cNvSpPr/>
            <p:nvPr/>
          </p:nvSpPr>
          <p:spPr>
            <a:xfrm>
              <a:off x="0" y="0"/>
              <a:ext cx="792168" cy="251119"/>
            </a:xfrm>
            <a:custGeom>
              <a:avLst/>
              <a:gdLst/>
              <a:ahLst/>
              <a:cxnLst/>
              <a:rect l="l" t="t" r="r" b="b"/>
              <a:pathLst>
                <a:path w="792168" h="251119">
                  <a:moveTo>
                    <a:pt x="0" y="0"/>
                  </a:moveTo>
                  <a:lnTo>
                    <a:pt x="792168" y="0"/>
                  </a:lnTo>
                  <a:lnTo>
                    <a:pt x="792168" y="251119"/>
                  </a:lnTo>
                  <a:lnTo>
                    <a:pt x="0" y="251119"/>
                  </a:lnTo>
                  <a:lnTo>
                    <a:pt x="0" y="0"/>
                  </a:lnTo>
                  <a:close/>
                </a:path>
              </a:pathLst>
            </a:custGeom>
            <a:solidFill>
              <a:srgbClr val="0059AA"/>
            </a:solidFill>
            <a:ln cap="sq">
              <a:noFill/>
              <a:prstDash val="solid"/>
              <a:miter/>
            </a:ln>
          </p:spPr>
          <p:txBody>
            <a:bodyPr/>
            <a:lstStyle/>
            <a:p>
              <a:endParaRPr lang="en-US"/>
            </a:p>
          </p:txBody>
        </p:sp>
        <p:sp>
          <p:nvSpPr>
            <p:cNvPr id="83" name="TextBox 28"/>
            <p:cNvSpPr txBox="1"/>
            <p:nvPr/>
          </p:nvSpPr>
          <p:spPr>
            <a:xfrm>
              <a:off x="0" y="-57150"/>
              <a:ext cx="792168" cy="308269"/>
            </a:xfrm>
            <a:prstGeom prst="rect">
              <a:avLst/>
            </a:prstGeom>
          </p:spPr>
          <p:txBody>
            <a:bodyPr lIns="50800" tIns="50800" rIns="50800" bIns="50800" rtlCol="0" anchor="ctr"/>
            <a:lstStyle/>
            <a:p>
              <a:pPr algn="ctr">
                <a:lnSpc>
                  <a:spcPts val="3080"/>
                </a:lnSpc>
              </a:pPr>
            </a:p>
          </p:txBody>
        </p:sp>
      </p:grpSp>
      <p:sp>
        <p:nvSpPr>
          <p:cNvPr id="84" name="Freeform 50"/>
          <p:cNvSpPr/>
          <p:nvPr/>
        </p:nvSpPr>
        <p:spPr>
          <a:xfrm>
            <a:off x="8386603" y="3271301"/>
            <a:ext cx="853055" cy="639791"/>
          </a:xfrm>
          <a:custGeom>
            <a:avLst/>
            <a:gdLst/>
            <a:ahLst/>
            <a:cxnLst/>
            <a:rect l="l" t="t" r="r" b="b"/>
            <a:pathLst>
              <a:path w="853055" h="639791">
                <a:moveTo>
                  <a:pt x="0" y="0"/>
                </a:moveTo>
                <a:lnTo>
                  <a:pt x="853055" y="0"/>
                </a:lnTo>
                <a:lnTo>
                  <a:pt x="853055" y="639791"/>
                </a:lnTo>
                <a:lnTo>
                  <a:pt x="0" y="639791"/>
                </a:lnTo>
                <a:lnTo>
                  <a:pt x="0" y="0"/>
                </a:lnTo>
                <a:close/>
              </a:path>
            </a:pathLst>
          </a:custGeom>
          <a:blipFill>
            <a:blip r:embed="rId1"/>
            <a:srcRect/>
            <a:stretch>
              <a:fillRect/>
            </a:stretch>
          </a:blipFill>
        </p:spPr>
        <p:txBody>
          <a:bodyPr/>
          <a:lstStyle/>
          <a:p>
            <a:endParaRPr lang="en-US"/>
          </a:p>
        </p:txBody>
      </p:sp>
      <p:sp>
        <p:nvSpPr>
          <p:cNvPr id="85" name="Freeform 52"/>
          <p:cNvSpPr/>
          <p:nvPr/>
        </p:nvSpPr>
        <p:spPr>
          <a:xfrm>
            <a:off x="11621531" y="3271301"/>
            <a:ext cx="853055" cy="639791"/>
          </a:xfrm>
          <a:custGeom>
            <a:avLst/>
            <a:gdLst/>
            <a:ahLst/>
            <a:cxnLst/>
            <a:rect l="l" t="t" r="r" b="b"/>
            <a:pathLst>
              <a:path w="853055" h="639791">
                <a:moveTo>
                  <a:pt x="0" y="0"/>
                </a:moveTo>
                <a:lnTo>
                  <a:pt x="853055" y="0"/>
                </a:lnTo>
                <a:lnTo>
                  <a:pt x="853055" y="639791"/>
                </a:lnTo>
                <a:lnTo>
                  <a:pt x="0" y="639791"/>
                </a:lnTo>
                <a:lnTo>
                  <a:pt x="0" y="0"/>
                </a:lnTo>
                <a:close/>
              </a:path>
            </a:pathLst>
          </a:custGeom>
          <a:blipFill>
            <a:blip r:embed="rId1"/>
            <a:srcRect/>
            <a:stretch>
              <a:fillRect/>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4"/>
          <p:cNvSpPr txBox="1"/>
          <p:nvPr/>
        </p:nvSpPr>
        <p:spPr>
          <a:xfrm>
            <a:off x="839945" y="552744"/>
            <a:ext cx="8147912" cy="994410"/>
          </a:xfrm>
          <a:prstGeom prst="rect">
            <a:avLst/>
          </a:prstGeom>
        </p:spPr>
        <p:txBody>
          <a:bodyPr lIns="0" tIns="0" rIns="0" bIns="0" rtlCol="0" anchor="t">
            <a:spAutoFit/>
          </a:bodyPr>
          <a:lstStyle/>
          <a:p>
            <a:pPr>
              <a:lnSpc>
                <a:spcPts val="7560"/>
              </a:lnSpc>
            </a:pPr>
            <a:r>
              <a:rPr lang="en-US" sz="7200" dirty="0">
                <a:solidFill>
                  <a:srgbClr val="055594"/>
                </a:solidFill>
                <a:latin typeface="Inter Bold"/>
              </a:rPr>
              <a:t>BUSINESS MODEL</a:t>
            </a:r>
            <a:endParaRPr lang="en-US" sz="7200" dirty="0">
              <a:solidFill>
                <a:srgbClr val="055594"/>
              </a:solidFill>
              <a:latin typeface="Inter Bold"/>
            </a:endParaRPr>
          </a:p>
        </p:txBody>
      </p:sp>
      <p:sp>
        <p:nvSpPr>
          <p:cNvPr id="3" name="TextBox 16"/>
          <p:cNvSpPr txBox="1"/>
          <p:nvPr/>
        </p:nvSpPr>
        <p:spPr>
          <a:xfrm>
            <a:off x="839945" y="6508252"/>
            <a:ext cx="5155216" cy="446854"/>
          </a:xfrm>
          <a:prstGeom prst="rect">
            <a:avLst/>
          </a:prstGeom>
        </p:spPr>
        <p:txBody>
          <a:bodyPr lIns="0" tIns="0" rIns="0" bIns="0" rtlCol="0" anchor="t">
            <a:spAutoFit/>
          </a:bodyPr>
          <a:lstStyle/>
          <a:p>
            <a:pPr>
              <a:lnSpc>
                <a:spcPts val="3780"/>
              </a:lnSpc>
            </a:pPr>
            <a:r>
              <a:rPr lang="en-US" sz="2700" dirty="0">
                <a:solidFill>
                  <a:srgbClr val="055594"/>
                </a:solidFill>
                <a:latin typeface="Inter Bold"/>
              </a:rPr>
              <a:t>BUSINESS MODEL 1</a:t>
            </a:r>
            <a:endParaRPr lang="en-US" sz="2700" dirty="0">
              <a:solidFill>
                <a:srgbClr val="055594"/>
              </a:solidFill>
              <a:latin typeface="Inter Bold"/>
            </a:endParaRPr>
          </a:p>
        </p:txBody>
      </p:sp>
      <p:sp>
        <p:nvSpPr>
          <p:cNvPr id="4" name="TextBox 17"/>
          <p:cNvSpPr txBox="1"/>
          <p:nvPr/>
        </p:nvSpPr>
        <p:spPr>
          <a:xfrm>
            <a:off x="6571154" y="6508252"/>
            <a:ext cx="5155216" cy="446854"/>
          </a:xfrm>
          <a:prstGeom prst="rect">
            <a:avLst/>
          </a:prstGeom>
        </p:spPr>
        <p:txBody>
          <a:bodyPr lIns="0" tIns="0" rIns="0" bIns="0" rtlCol="0" anchor="t">
            <a:spAutoFit/>
          </a:bodyPr>
          <a:lstStyle/>
          <a:p>
            <a:pPr>
              <a:lnSpc>
                <a:spcPts val="3780"/>
              </a:lnSpc>
            </a:pPr>
            <a:r>
              <a:rPr lang="en-US" sz="2700" dirty="0">
                <a:solidFill>
                  <a:srgbClr val="055594"/>
                </a:solidFill>
                <a:latin typeface="Inter Bold"/>
              </a:rPr>
              <a:t>BUSINESS MODEL 2</a:t>
            </a:r>
            <a:endParaRPr lang="en-US" sz="2700" dirty="0">
              <a:solidFill>
                <a:srgbClr val="055594"/>
              </a:solidFill>
              <a:latin typeface="Inter Bold"/>
            </a:endParaRPr>
          </a:p>
        </p:txBody>
      </p:sp>
      <p:sp>
        <p:nvSpPr>
          <p:cNvPr id="5" name="TextBox 18"/>
          <p:cNvSpPr txBox="1"/>
          <p:nvPr/>
        </p:nvSpPr>
        <p:spPr>
          <a:xfrm>
            <a:off x="12292839" y="6508252"/>
            <a:ext cx="5155216" cy="446854"/>
          </a:xfrm>
          <a:prstGeom prst="rect">
            <a:avLst/>
          </a:prstGeom>
        </p:spPr>
        <p:txBody>
          <a:bodyPr lIns="0" tIns="0" rIns="0" bIns="0" rtlCol="0" anchor="t">
            <a:spAutoFit/>
          </a:bodyPr>
          <a:lstStyle/>
          <a:p>
            <a:pPr>
              <a:lnSpc>
                <a:spcPts val="3780"/>
              </a:lnSpc>
            </a:pPr>
            <a:r>
              <a:rPr lang="en-US" sz="2700" dirty="0">
                <a:solidFill>
                  <a:srgbClr val="055594"/>
                </a:solidFill>
                <a:latin typeface="Inter Bold"/>
              </a:rPr>
              <a:t>BUSINESS MODEL 3</a:t>
            </a:r>
            <a:endParaRPr lang="en-US" sz="2700" dirty="0">
              <a:solidFill>
                <a:srgbClr val="055594"/>
              </a:solidFill>
              <a:latin typeface="Inter Bold"/>
            </a:endParaRPr>
          </a:p>
        </p:txBody>
      </p:sp>
      <p:sp>
        <p:nvSpPr>
          <p:cNvPr id="9" name="Rectangle 8"/>
          <p:cNvSpPr/>
          <p:nvPr/>
        </p:nvSpPr>
        <p:spPr>
          <a:xfrm>
            <a:off x="625004" y="3340629"/>
            <a:ext cx="5145691" cy="2811074"/>
          </a:xfrm>
          <a:prstGeom prst="rect">
            <a:avLst/>
          </a:prstGeom>
          <a:ln>
            <a:solidFill>
              <a:srgbClr val="05559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8000" dirty="0"/>
          </a:p>
        </p:txBody>
      </p:sp>
      <p:sp>
        <p:nvSpPr>
          <p:cNvPr id="10" name="Rectangle 9"/>
          <p:cNvSpPr/>
          <p:nvPr/>
        </p:nvSpPr>
        <p:spPr>
          <a:xfrm>
            <a:off x="6356213" y="3373206"/>
            <a:ext cx="5145691" cy="2811074"/>
          </a:xfrm>
          <a:prstGeom prst="rect">
            <a:avLst/>
          </a:prstGeom>
          <a:ln>
            <a:solidFill>
              <a:srgbClr val="05559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8000" dirty="0"/>
          </a:p>
        </p:txBody>
      </p:sp>
      <p:sp>
        <p:nvSpPr>
          <p:cNvPr id="11" name="Rectangle 10"/>
          <p:cNvSpPr/>
          <p:nvPr/>
        </p:nvSpPr>
        <p:spPr>
          <a:xfrm>
            <a:off x="12077898" y="3340629"/>
            <a:ext cx="5145691" cy="2811074"/>
          </a:xfrm>
          <a:prstGeom prst="rect">
            <a:avLst/>
          </a:prstGeom>
          <a:ln>
            <a:solidFill>
              <a:srgbClr val="05559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8000" dirty="0"/>
          </a:p>
        </p:txBody>
      </p:sp>
      <p:sp>
        <p:nvSpPr>
          <p:cNvPr id="22" name="TextBox 26"/>
          <p:cNvSpPr txBox="1"/>
          <p:nvPr/>
        </p:nvSpPr>
        <p:spPr>
          <a:xfrm>
            <a:off x="16184326" y="541565"/>
            <a:ext cx="1635971" cy="409599"/>
          </a:xfrm>
          <a:prstGeom prst="rect">
            <a:avLst/>
          </a:prstGeom>
        </p:spPr>
        <p:txBody>
          <a:bodyPr wrap="square" lIns="0" tIns="0" rIns="0" bIns="0" rtlCol="0" anchor="t">
            <a:spAutoFit/>
          </a:bodyPr>
          <a:lstStyle/>
          <a:p>
            <a:pPr>
              <a:lnSpc>
                <a:spcPts val="3500"/>
              </a:lnSpc>
            </a:pPr>
            <a:r>
              <a:rPr lang="en-US" sz="2500" dirty="0">
                <a:solidFill>
                  <a:srgbClr val="000000"/>
                </a:solidFill>
                <a:latin typeface="Open Sans Semi-Bold"/>
              </a:rPr>
              <a:t>I</a:t>
            </a:r>
            <a:endParaRPr lang="en-US" sz="2500" dirty="0">
              <a:solidFill>
                <a:srgbClr val="000000"/>
              </a:solidFill>
              <a:latin typeface="Open Sans Semi-Bold"/>
            </a:endParaRPr>
          </a:p>
        </p:txBody>
      </p:sp>
      <p:sp>
        <p:nvSpPr>
          <p:cNvPr id="23" name="Rectangle 22"/>
          <p:cNvSpPr/>
          <p:nvPr/>
        </p:nvSpPr>
        <p:spPr>
          <a:xfrm>
            <a:off x="0" y="9334500"/>
            <a:ext cx="18288000" cy="952500"/>
          </a:xfrm>
          <a:prstGeom prst="rect">
            <a:avLst/>
          </a:prstGeom>
          <a:solidFill>
            <a:srgbClr val="05559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txBox="1"/>
          <p:nvPr/>
        </p:nvSpPr>
        <p:spPr>
          <a:xfrm>
            <a:off x="1028700" y="6716634"/>
            <a:ext cx="3761659" cy="475515"/>
          </a:xfrm>
          <a:prstGeom prst="rect">
            <a:avLst/>
          </a:prstGeom>
        </p:spPr>
        <p:txBody>
          <a:bodyPr lIns="0" tIns="0" rIns="0" bIns="0" rtlCol="0" anchor="t">
            <a:spAutoFit/>
          </a:bodyPr>
          <a:lstStyle/>
          <a:p>
            <a:pPr>
              <a:lnSpc>
                <a:spcPts val="3730"/>
              </a:lnSpc>
            </a:pPr>
            <a:r>
              <a:rPr lang="en-US" sz="4100" spc="20" dirty="0">
                <a:solidFill>
                  <a:srgbClr val="2B2C30"/>
                </a:solidFill>
              </a:rPr>
              <a:t>Subscribers</a:t>
            </a:r>
            <a:endParaRPr lang="en-US" sz="4100" spc="20" dirty="0">
              <a:solidFill>
                <a:srgbClr val="2B2C30"/>
              </a:solidFill>
            </a:endParaRPr>
          </a:p>
        </p:txBody>
      </p:sp>
      <p:sp>
        <p:nvSpPr>
          <p:cNvPr id="7" name="TextBox 7"/>
          <p:cNvSpPr txBox="1"/>
          <p:nvPr/>
        </p:nvSpPr>
        <p:spPr>
          <a:xfrm>
            <a:off x="1019164" y="4876531"/>
            <a:ext cx="3761659" cy="969176"/>
          </a:xfrm>
          <a:prstGeom prst="rect">
            <a:avLst/>
          </a:prstGeom>
        </p:spPr>
        <p:txBody>
          <a:bodyPr lIns="0" tIns="0" rIns="0" bIns="0" rtlCol="0" anchor="t">
            <a:spAutoFit/>
          </a:bodyPr>
          <a:lstStyle/>
          <a:p>
            <a:pPr>
              <a:lnSpc>
                <a:spcPts val="3730"/>
              </a:lnSpc>
            </a:pPr>
            <a:r>
              <a:rPr lang="en-US" sz="4100" spc="20" dirty="0">
                <a:solidFill>
                  <a:srgbClr val="2B2C30"/>
                </a:solidFill>
              </a:rPr>
              <a:t>Raised in Investment</a:t>
            </a:r>
            <a:endParaRPr lang="en-US" sz="4100" spc="20" dirty="0">
              <a:solidFill>
                <a:srgbClr val="2B2C30"/>
              </a:solidFill>
            </a:endParaRPr>
          </a:p>
        </p:txBody>
      </p:sp>
      <p:sp>
        <p:nvSpPr>
          <p:cNvPr id="11" name="TextBox 11"/>
          <p:cNvSpPr txBox="1"/>
          <p:nvPr/>
        </p:nvSpPr>
        <p:spPr>
          <a:xfrm>
            <a:off x="685800" y="2176390"/>
            <a:ext cx="3773952" cy="667875"/>
          </a:xfrm>
          <a:prstGeom prst="rect">
            <a:avLst/>
          </a:prstGeom>
        </p:spPr>
        <p:txBody>
          <a:bodyPr lIns="0" tIns="0" rIns="0" bIns="0" rtlCol="0" anchor="t">
            <a:spAutoFit/>
          </a:bodyPr>
          <a:lstStyle/>
          <a:p>
            <a:pPr>
              <a:lnSpc>
                <a:spcPts val="5740"/>
              </a:lnSpc>
            </a:pPr>
            <a:r>
              <a:rPr lang="en-US" sz="4100" dirty="0">
                <a:solidFill>
                  <a:srgbClr val="2B2C30"/>
                </a:solidFill>
              </a:rPr>
              <a:t>1 year</a:t>
            </a:r>
            <a:endParaRPr lang="en-US" sz="4100" dirty="0">
              <a:solidFill>
                <a:srgbClr val="2B2C30"/>
              </a:solidFill>
            </a:endParaRPr>
          </a:p>
        </p:txBody>
      </p:sp>
      <p:sp>
        <p:nvSpPr>
          <p:cNvPr id="13" name="TextBox 13"/>
          <p:cNvSpPr txBox="1"/>
          <p:nvPr/>
        </p:nvSpPr>
        <p:spPr>
          <a:xfrm>
            <a:off x="1006871" y="4092306"/>
            <a:ext cx="3773952" cy="730969"/>
          </a:xfrm>
          <a:prstGeom prst="rect">
            <a:avLst/>
          </a:prstGeom>
        </p:spPr>
        <p:txBody>
          <a:bodyPr lIns="0" tIns="0" rIns="0" bIns="0" rtlCol="0" anchor="t">
            <a:spAutoFit/>
          </a:bodyPr>
          <a:lstStyle/>
          <a:p>
            <a:pPr>
              <a:lnSpc>
                <a:spcPts val="5740"/>
              </a:lnSpc>
            </a:pPr>
            <a:r>
              <a:rPr lang="en-US" sz="4100" dirty="0">
                <a:solidFill>
                  <a:srgbClr val="2B2C30"/>
                </a:solidFill>
              </a:rPr>
              <a:t>0 </a:t>
            </a:r>
            <a:endParaRPr lang="en-US" sz="4100" dirty="0">
              <a:solidFill>
                <a:srgbClr val="2B2C30"/>
              </a:solidFill>
            </a:endParaRPr>
          </a:p>
        </p:txBody>
      </p:sp>
      <p:grpSp>
        <p:nvGrpSpPr>
          <p:cNvPr id="27" name="Group 27"/>
          <p:cNvGrpSpPr/>
          <p:nvPr/>
        </p:nvGrpSpPr>
        <p:grpSpPr>
          <a:xfrm>
            <a:off x="13987884" y="5845707"/>
            <a:ext cx="3270771" cy="4087369"/>
            <a:chOff x="0" y="-28575"/>
            <a:chExt cx="1083733" cy="1595530"/>
          </a:xfrm>
        </p:grpSpPr>
        <p:sp>
          <p:nvSpPr>
            <p:cNvPr id="28" name="Freeform 28"/>
            <p:cNvSpPr/>
            <p:nvPr/>
          </p:nvSpPr>
          <p:spPr>
            <a:xfrm>
              <a:off x="0" y="26765"/>
              <a:ext cx="1083733" cy="1540190"/>
            </a:xfrm>
            <a:custGeom>
              <a:avLst/>
              <a:gdLst/>
              <a:ahLst/>
              <a:cxnLst/>
              <a:rect l="l" t="t" r="r" b="b"/>
              <a:pathLst>
                <a:path w="1083733" h="1540190">
                  <a:moveTo>
                    <a:pt x="0" y="0"/>
                  </a:moveTo>
                  <a:lnTo>
                    <a:pt x="1083733" y="0"/>
                  </a:lnTo>
                  <a:lnTo>
                    <a:pt x="1083733" y="1540190"/>
                  </a:lnTo>
                  <a:lnTo>
                    <a:pt x="0" y="1540190"/>
                  </a:lnTo>
                  <a:lnTo>
                    <a:pt x="0" y="0"/>
                  </a:lnTo>
                  <a:close/>
                </a:path>
              </a:pathLst>
            </a:custGeom>
            <a:blipFill dpi="0" rotWithShape="1">
              <a:blip r:embed="rId1" cstate="print">
                <a:extLst>
                  <a:ext uri="{28A0092B-C50C-407E-A947-70E740481C1C}">
                    <a14:useLocalDpi xmlns:a14="http://schemas.microsoft.com/office/drawing/2010/main" val="0"/>
                  </a:ext>
                </a:extLst>
              </a:blip>
              <a:srcRect/>
              <a:stretch>
                <a:fillRect/>
              </a:stretch>
            </a:blipFill>
            <a:ln w="9525" cap="sq">
              <a:solidFill>
                <a:srgbClr val="2B2C30"/>
              </a:solidFill>
              <a:prstDash val="solid"/>
              <a:miter/>
            </a:ln>
          </p:spPr>
          <p:txBody>
            <a:bodyPr anchor="ctr"/>
            <a:lstStyle/>
            <a:p>
              <a:pPr algn="ctr"/>
              <a:endParaRPr lang="en-US" sz="3600" dirty="0"/>
            </a:p>
            <a:p>
              <a:pPr algn="ctr"/>
              <a:endParaRPr lang="en-US" sz="3600" dirty="0"/>
            </a:p>
          </p:txBody>
        </p:sp>
        <p:sp>
          <p:nvSpPr>
            <p:cNvPr id="29" name="TextBox 29"/>
            <p:cNvSpPr txBox="1"/>
            <p:nvPr/>
          </p:nvSpPr>
          <p:spPr>
            <a:xfrm>
              <a:off x="160721" y="-28575"/>
              <a:ext cx="923012" cy="1289565"/>
            </a:xfrm>
            <a:prstGeom prst="rect">
              <a:avLst/>
            </a:prstGeom>
          </p:spPr>
          <p:txBody>
            <a:bodyPr lIns="68580" tIns="68580" rIns="68580" bIns="68580" rtlCol="0" anchor="ctr"/>
            <a:lstStyle/>
            <a:p>
              <a:pPr algn="ctr">
                <a:lnSpc>
                  <a:spcPts val="1890"/>
                </a:lnSpc>
              </a:pPr>
            </a:p>
          </p:txBody>
        </p:sp>
      </p:grpSp>
      <p:sp>
        <p:nvSpPr>
          <p:cNvPr id="32" name="TextBox 26"/>
          <p:cNvSpPr txBox="1"/>
          <p:nvPr/>
        </p:nvSpPr>
        <p:spPr>
          <a:xfrm>
            <a:off x="16489768" y="9029700"/>
            <a:ext cx="1635971" cy="409599"/>
          </a:xfrm>
          <a:prstGeom prst="rect">
            <a:avLst/>
          </a:prstGeom>
        </p:spPr>
        <p:txBody>
          <a:bodyPr wrap="square" lIns="0" tIns="0" rIns="0" bIns="0" rtlCol="0" anchor="t">
            <a:spAutoFit/>
          </a:bodyPr>
          <a:lstStyle/>
          <a:p>
            <a:pPr>
              <a:lnSpc>
                <a:spcPts val="3500"/>
              </a:lnSpc>
            </a:pPr>
            <a:r>
              <a:rPr lang="en-US" sz="2500" dirty="0">
                <a:solidFill>
                  <a:srgbClr val="000000"/>
                </a:solidFill>
                <a:latin typeface="Open Sans Semi-Bold"/>
              </a:rPr>
              <a:t>I</a:t>
            </a:r>
            <a:endParaRPr lang="en-US" sz="2500" dirty="0">
              <a:solidFill>
                <a:srgbClr val="000000"/>
              </a:solidFill>
              <a:latin typeface="Open Sans Semi-Bold"/>
            </a:endParaRPr>
          </a:p>
        </p:txBody>
      </p:sp>
      <p:sp>
        <p:nvSpPr>
          <p:cNvPr id="33" name="TextBox 14"/>
          <p:cNvSpPr txBox="1"/>
          <p:nvPr/>
        </p:nvSpPr>
        <p:spPr>
          <a:xfrm>
            <a:off x="839945" y="552744"/>
            <a:ext cx="8147912" cy="994410"/>
          </a:xfrm>
          <a:prstGeom prst="rect">
            <a:avLst/>
          </a:prstGeom>
        </p:spPr>
        <p:txBody>
          <a:bodyPr lIns="0" tIns="0" rIns="0" bIns="0" rtlCol="0" anchor="t">
            <a:spAutoFit/>
          </a:bodyPr>
          <a:lstStyle/>
          <a:p>
            <a:pPr>
              <a:lnSpc>
                <a:spcPts val="7560"/>
              </a:lnSpc>
            </a:pPr>
            <a:r>
              <a:rPr lang="en-US" sz="7200" dirty="0">
                <a:solidFill>
                  <a:srgbClr val="055594"/>
                </a:solidFill>
                <a:latin typeface="Inter Bold"/>
              </a:rPr>
              <a:t>OUR NUMBERS</a:t>
            </a:r>
            <a:endParaRPr lang="en-US" sz="7200" dirty="0">
              <a:solidFill>
                <a:srgbClr val="055594"/>
              </a:solidFill>
              <a:latin typeface="Inter 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85800" y="1842837"/>
            <a:ext cx="17145000" cy="7727546"/>
            <a:chOff x="0" y="-28575"/>
            <a:chExt cx="4064900" cy="2035238"/>
          </a:xfrm>
        </p:grpSpPr>
        <p:sp>
          <p:nvSpPr>
            <p:cNvPr id="4" name="Freeform 4"/>
            <p:cNvSpPr/>
            <p:nvPr/>
          </p:nvSpPr>
          <p:spPr>
            <a:xfrm>
              <a:off x="0" y="0"/>
              <a:ext cx="4064900" cy="2006663"/>
            </a:xfrm>
            <a:custGeom>
              <a:avLst/>
              <a:gdLst/>
              <a:ahLst/>
              <a:cxnLst/>
              <a:rect l="l" t="t" r="r" b="b"/>
              <a:pathLst>
                <a:path w="4064900" h="2006663">
                  <a:moveTo>
                    <a:pt x="0" y="0"/>
                  </a:moveTo>
                  <a:lnTo>
                    <a:pt x="4064900" y="0"/>
                  </a:lnTo>
                  <a:lnTo>
                    <a:pt x="4064900" y="2006663"/>
                  </a:lnTo>
                  <a:lnTo>
                    <a:pt x="0" y="2006663"/>
                  </a:lnTo>
                  <a:lnTo>
                    <a:pt x="0" y="0"/>
                  </a:lnTo>
                  <a:close/>
                </a:path>
              </a:pathLst>
            </a:custGeom>
            <a:solidFill>
              <a:srgbClr val="F5F5F5"/>
            </a:solidFill>
            <a:ln w="38100" cap="sq">
              <a:solidFill>
                <a:srgbClr val="202354"/>
              </a:solidFill>
              <a:prstDash val="solid"/>
              <a:miter/>
            </a:ln>
          </p:spPr>
          <p:txBody>
            <a:bodyPr/>
            <a:lstStyle/>
            <a:p>
              <a:endParaRPr lang="en-US" dirty="0"/>
            </a:p>
          </p:txBody>
        </p:sp>
        <p:sp>
          <p:nvSpPr>
            <p:cNvPr id="5" name="TextBox 5"/>
            <p:cNvSpPr txBox="1"/>
            <p:nvPr/>
          </p:nvSpPr>
          <p:spPr>
            <a:xfrm>
              <a:off x="0" y="-28575"/>
              <a:ext cx="4064900" cy="2035238"/>
            </a:xfrm>
            <a:prstGeom prst="rect">
              <a:avLst/>
            </a:prstGeom>
          </p:spPr>
          <p:txBody>
            <a:bodyPr lIns="50800" tIns="50800" rIns="50800" bIns="50800" rtlCol="0" anchor="ctr"/>
            <a:lstStyle/>
            <a:p>
              <a:pPr algn="ctr">
                <a:lnSpc>
                  <a:spcPts val="1870"/>
                </a:lnSpc>
              </a:pPr>
            </a:p>
          </p:txBody>
        </p:sp>
      </p:grpSp>
      <p:sp>
        <p:nvSpPr>
          <p:cNvPr id="6" name="AutoShape 6"/>
          <p:cNvSpPr/>
          <p:nvPr/>
        </p:nvSpPr>
        <p:spPr>
          <a:xfrm>
            <a:off x="3307028" y="4205366"/>
            <a:ext cx="11291300" cy="0"/>
          </a:xfrm>
          <a:prstGeom prst="line">
            <a:avLst/>
          </a:prstGeom>
          <a:ln w="76200" cap="flat">
            <a:solidFill>
              <a:srgbClr val="202354"/>
            </a:solidFill>
            <a:prstDash val="solid"/>
            <a:headEnd type="none" w="sm" len="sm"/>
            <a:tailEnd type="none" w="sm" len="sm"/>
          </a:ln>
        </p:spPr>
        <p:txBody>
          <a:bodyPr/>
          <a:lstStyle/>
          <a:p>
            <a:endParaRPr lang="en-US"/>
          </a:p>
        </p:txBody>
      </p:sp>
      <p:grpSp>
        <p:nvGrpSpPr>
          <p:cNvPr id="7" name="Group 7"/>
          <p:cNvGrpSpPr>
            <a:grpSpLocks noChangeAspect="1"/>
          </p:cNvGrpSpPr>
          <p:nvPr/>
        </p:nvGrpSpPr>
        <p:grpSpPr>
          <a:xfrm rot="5400000">
            <a:off x="14598328" y="4037857"/>
            <a:ext cx="411218" cy="411218"/>
            <a:chOff x="6705600" y="1371600"/>
            <a:chExt cx="10972800" cy="10972800"/>
          </a:xfrm>
          <a:solidFill>
            <a:srgbClr val="055594"/>
          </a:solidFill>
        </p:grpSpPr>
        <p:sp>
          <p:nvSpPr>
            <p:cNvPr id="8" name="Freeform 8"/>
            <p:cNvSpPr/>
            <p:nvPr/>
          </p:nvSpPr>
          <p:spPr>
            <a:xfrm>
              <a:off x="6696808" y="1100629"/>
              <a:ext cx="10990383" cy="11514742"/>
            </a:xfrm>
            <a:custGeom>
              <a:avLst/>
              <a:gdLst/>
              <a:ahLst/>
              <a:cxnLst/>
              <a:rect l="l" t="t" r="r" b="b"/>
              <a:pathLst>
                <a:path w="10990383" h="11514742">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grpFill/>
          </p:spPr>
          <p:txBody>
            <a:bodyPr/>
            <a:lstStyle/>
            <a:p>
              <a:endParaRPr lang="en-US"/>
            </a:p>
          </p:txBody>
        </p:sp>
      </p:grpSp>
      <p:grpSp>
        <p:nvGrpSpPr>
          <p:cNvPr id="9" name="Group 9"/>
          <p:cNvGrpSpPr>
            <a:grpSpLocks noChangeAspect="1"/>
          </p:cNvGrpSpPr>
          <p:nvPr/>
        </p:nvGrpSpPr>
        <p:grpSpPr>
          <a:xfrm rot="5400000">
            <a:off x="12046404" y="4037857"/>
            <a:ext cx="411218" cy="411218"/>
            <a:chOff x="6705600" y="1371600"/>
            <a:chExt cx="10972800" cy="10972800"/>
          </a:xfrm>
          <a:solidFill>
            <a:srgbClr val="055594"/>
          </a:solidFill>
        </p:grpSpPr>
        <p:sp>
          <p:nvSpPr>
            <p:cNvPr id="10" name="Freeform 10"/>
            <p:cNvSpPr/>
            <p:nvPr/>
          </p:nvSpPr>
          <p:spPr>
            <a:xfrm>
              <a:off x="6696808" y="1100629"/>
              <a:ext cx="10990383" cy="11514742"/>
            </a:xfrm>
            <a:custGeom>
              <a:avLst/>
              <a:gdLst/>
              <a:ahLst/>
              <a:cxnLst/>
              <a:rect l="l" t="t" r="r" b="b"/>
              <a:pathLst>
                <a:path w="10990383" h="11514742">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grpFill/>
          </p:spPr>
          <p:txBody>
            <a:bodyPr/>
            <a:lstStyle/>
            <a:p>
              <a:endParaRPr lang="en-US"/>
            </a:p>
          </p:txBody>
        </p:sp>
      </p:grpSp>
      <p:grpSp>
        <p:nvGrpSpPr>
          <p:cNvPr id="11" name="Group 11"/>
          <p:cNvGrpSpPr>
            <a:grpSpLocks noChangeAspect="1"/>
          </p:cNvGrpSpPr>
          <p:nvPr/>
        </p:nvGrpSpPr>
        <p:grpSpPr>
          <a:xfrm rot="5400000">
            <a:off x="9081664" y="4037857"/>
            <a:ext cx="411218" cy="411218"/>
            <a:chOff x="6705600" y="1371600"/>
            <a:chExt cx="10972800" cy="10972800"/>
          </a:xfrm>
          <a:solidFill>
            <a:srgbClr val="055594"/>
          </a:solidFill>
        </p:grpSpPr>
        <p:sp>
          <p:nvSpPr>
            <p:cNvPr id="12" name="Freeform 12"/>
            <p:cNvSpPr/>
            <p:nvPr/>
          </p:nvSpPr>
          <p:spPr>
            <a:xfrm>
              <a:off x="6696808" y="1100629"/>
              <a:ext cx="10990383" cy="11514742"/>
            </a:xfrm>
            <a:custGeom>
              <a:avLst/>
              <a:gdLst/>
              <a:ahLst/>
              <a:cxnLst/>
              <a:rect l="l" t="t" r="r" b="b"/>
              <a:pathLst>
                <a:path w="10990383" h="11514742">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grpFill/>
          </p:spPr>
          <p:txBody>
            <a:bodyPr/>
            <a:lstStyle/>
            <a:p>
              <a:endParaRPr lang="en-US"/>
            </a:p>
          </p:txBody>
        </p:sp>
      </p:grpSp>
      <p:grpSp>
        <p:nvGrpSpPr>
          <p:cNvPr id="13" name="Group 13"/>
          <p:cNvGrpSpPr>
            <a:grpSpLocks noChangeAspect="1"/>
          </p:cNvGrpSpPr>
          <p:nvPr/>
        </p:nvGrpSpPr>
        <p:grpSpPr>
          <a:xfrm rot="5400000">
            <a:off x="6241759" y="3999757"/>
            <a:ext cx="411218" cy="411218"/>
            <a:chOff x="6705600" y="1371600"/>
            <a:chExt cx="10972800" cy="10972800"/>
          </a:xfrm>
          <a:solidFill>
            <a:srgbClr val="055594"/>
          </a:solidFill>
        </p:grpSpPr>
        <p:sp>
          <p:nvSpPr>
            <p:cNvPr id="14" name="Freeform 14"/>
            <p:cNvSpPr/>
            <p:nvPr/>
          </p:nvSpPr>
          <p:spPr>
            <a:xfrm>
              <a:off x="6696808" y="1100629"/>
              <a:ext cx="10990383" cy="11514742"/>
            </a:xfrm>
            <a:custGeom>
              <a:avLst/>
              <a:gdLst/>
              <a:ahLst/>
              <a:cxnLst/>
              <a:rect l="l" t="t" r="r" b="b"/>
              <a:pathLst>
                <a:path w="10990383" h="11514742">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grpFill/>
          </p:spPr>
          <p:txBody>
            <a:bodyPr/>
            <a:lstStyle/>
            <a:p>
              <a:endParaRPr lang="en-US"/>
            </a:p>
          </p:txBody>
        </p:sp>
      </p:grpSp>
      <p:grpSp>
        <p:nvGrpSpPr>
          <p:cNvPr id="15" name="Group 15"/>
          <p:cNvGrpSpPr>
            <a:grpSpLocks noChangeAspect="1"/>
          </p:cNvGrpSpPr>
          <p:nvPr/>
        </p:nvGrpSpPr>
        <p:grpSpPr>
          <a:xfrm rot="5400000">
            <a:off x="3278453" y="4037857"/>
            <a:ext cx="411218" cy="411218"/>
            <a:chOff x="6705600" y="1371600"/>
            <a:chExt cx="10972800" cy="10972800"/>
          </a:xfrm>
          <a:solidFill>
            <a:srgbClr val="055594"/>
          </a:solidFill>
        </p:grpSpPr>
        <p:sp>
          <p:nvSpPr>
            <p:cNvPr id="16" name="Freeform 16"/>
            <p:cNvSpPr/>
            <p:nvPr/>
          </p:nvSpPr>
          <p:spPr>
            <a:xfrm>
              <a:off x="6696808" y="1100629"/>
              <a:ext cx="10990383" cy="11514742"/>
            </a:xfrm>
            <a:custGeom>
              <a:avLst/>
              <a:gdLst/>
              <a:ahLst/>
              <a:cxnLst/>
              <a:rect l="l" t="t" r="r" b="b"/>
              <a:pathLst>
                <a:path w="10990383" h="11514742">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grpFill/>
          </p:spPr>
          <p:txBody>
            <a:bodyPr/>
            <a:lstStyle/>
            <a:p>
              <a:endParaRPr lang="en-US"/>
            </a:p>
          </p:txBody>
        </p:sp>
      </p:grpSp>
      <p:sp>
        <p:nvSpPr>
          <p:cNvPr id="17" name="TextBox 17"/>
          <p:cNvSpPr txBox="1"/>
          <p:nvPr/>
        </p:nvSpPr>
        <p:spPr>
          <a:xfrm>
            <a:off x="3278453" y="5087470"/>
            <a:ext cx="2736463" cy="338455"/>
          </a:xfrm>
          <a:prstGeom prst="rect">
            <a:avLst/>
          </a:prstGeom>
        </p:spPr>
        <p:txBody>
          <a:bodyPr lIns="0" tIns="0" rIns="0" bIns="0" rtlCol="0" anchor="t">
            <a:spAutoFit/>
          </a:bodyPr>
          <a:lstStyle/>
          <a:p>
            <a:pPr algn="just">
              <a:lnSpc>
                <a:spcPts val="2640"/>
              </a:lnSpc>
            </a:pPr>
            <a:r>
              <a:rPr lang="en-US" sz="2400" spc="76" dirty="0">
                <a:solidFill>
                  <a:srgbClr val="000000"/>
                </a:solidFill>
                <a:latin typeface="Open Sauce Medium"/>
              </a:rPr>
              <a:t>March 2023</a:t>
            </a:r>
            <a:endParaRPr lang="en-US" sz="2400" spc="76" dirty="0">
              <a:solidFill>
                <a:srgbClr val="000000"/>
              </a:solidFill>
              <a:latin typeface="Open Sauce Medium"/>
            </a:endParaRPr>
          </a:p>
        </p:txBody>
      </p:sp>
      <p:sp>
        <p:nvSpPr>
          <p:cNvPr id="18" name="TextBox 18"/>
          <p:cNvSpPr txBox="1"/>
          <p:nvPr/>
        </p:nvSpPr>
        <p:spPr>
          <a:xfrm>
            <a:off x="3278453" y="5647494"/>
            <a:ext cx="2449249" cy="220701"/>
          </a:xfrm>
          <a:prstGeom prst="rect">
            <a:avLst/>
          </a:prstGeom>
        </p:spPr>
        <p:txBody>
          <a:bodyPr lIns="0" tIns="0" rIns="0" bIns="0" rtlCol="0" anchor="t">
            <a:spAutoFit/>
          </a:bodyPr>
          <a:lstStyle/>
          <a:p>
            <a:pPr>
              <a:lnSpc>
                <a:spcPts val="1910"/>
              </a:lnSpc>
            </a:pPr>
            <a:r>
              <a:rPr lang="en-US" sz="1300" dirty="0">
                <a:solidFill>
                  <a:srgbClr val="000000"/>
                </a:solidFill>
                <a:latin typeface="Open Sauce Light"/>
              </a:rPr>
              <a:t>Made our first prototype </a:t>
            </a:r>
            <a:endParaRPr lang="en-US" sz="1300" dirty="0">
              <a:solidFill>
                <a:srgbClr val="000000"/>
              </a:solidFill>
              <a:latin typeface="Open Sauce Light"/>
            </a:endParaRPr>
          </a:p>
        </p:txBody>
      </p:sp>
      <p:sp>
        <p:nvSpPr>
          <p:cNvPr id="19" name="TextBox 19"/>
          <p:cNvSpPr txBox="1"/>
          <p:nvPr/>
        </p:nvSpPr>
        <p:spPr>
          <a:xfrm>
            <a:off x="12046404" y="5087470"/>
            <a:ext cx="2736463" cy="338455"/>
          </a:xfrm>
          <a:prstGeom prst="rect">
            <a:avLst/>
          </a:prstGeom>
        </p:spPr>
        <p:txBody>
          <a:bodyPr lIns="0" tIns="0" rIns="0" bIns="0" rtlCol="0" anchor="t">
            <a:spAutoFit/>
          </a:bodyPr>
          <a:lstStyle/>
          <a:p>
            <a:pPr algn="just">
              <a:lnSpc>
                <a:spcPts val="2640"/>
              </a:lnSpc>
            </a:pPr>
            <a:r>
              <a:rPr lang="en-US" sz="2400" spc="76" dirty="0">
                <a:solidFill>
                  <a:srgbClr val="000000"/>
                </a:solidFill>
                <a:latin typeface="Open Sauce Medium"/>
              </a:rPr>
              <a:t>October 2025</a:t>
            </a:r>
            <a:endParaRPr lang="en-US" sz="2400" spc="76" dirty="0">
              <a:solidFill>
                <a:srgbClr val="000000"/>
              </a:solidFill>
              <a:latin typeface="Open Sauce Medium"/>
            </a:endParaRPr>
          </a:p>
        </p:txBody>
      </p:sp>
      <p:sp>
        <p:nvSpPr>
          <p:cNvPr id="20" name="TextBox 20"/>
          <p:cNvSpPr txBox="1"/>
          <p:nvPr/>
        </p:nvSpPr>
        <p:spPr>
          <a:xfrm>
            <a:off x="6201104" y="5087470"/>
            <a:ext cx="2736463" cy="344805"/>
          </a:xfrm>
          <a:prstGeom prst="rect">
            <a:avLst/>
          </a:prstGeom>
        </p:spPr>
        <p:txBody>
          <a:bodyPr lIns="0" tIns="0" rIns="0" bIns="0" rtlCol="0" anchor="t">
            <a:spAutoFit/>
          </a:bodyPr>
          <a:lstStyle/>
          <a:p>
            <a:pPr algn="just">
              <a:lnSpc>
                <a:spcPts val="2640"/>
              </a:lnSpc>
            </a:pPr>
            <a:r>
              <a:rPr lang="en-US" sz="2400" spc="76" dirty="0">
                <a:solidFill>
                  <a:srgbClr val="000000"/>
                </a:solidFill>
                <a:latin typeface="Open Sauce Medium"/>
              </a:rPr>
              <a:t>6 month</a:t>
            </a:r>
            <a:endParaRPr lang="en-US" sz="2400" spc="76" dirty="0">
              <a:solidFill>
                <a:srgbClr val="000000"/>
              </a:solidFill>
              <a:latin typeface="Open Sauce Medium"/>
            </a:endParaRPr>
          </a:p>
        </p:txBody>
      </p:sp>
      <p:sp>
        <p:nvSpPr>
          <p:cNvPr id="21" name="TextBox 21"/>
          <p:cNvSpPr txBox="1"/>
          <p:nvPr/>
        </p:nvSpPr>
        <p:spPr>
          <a:xfrm>
            <a:off x="6201104" y="5647494"/>
            <a:ext cx="2449249" cy="220701"/>
          </a:xfrm>
          <a:prstGeom prst="rect">
            <a:avLst/>
          </a:prstGeom>
        </p:spPr>
        <p:txBody>
          <a:bodyPr lIns="0" tIns="0" rIns="0" bIns="0" rtlCol="0" anchor="t">
            <a:spAutoFit/>
          </a:bodyPr>
          <a:lstStyle/>
          <a:p>
            <a:pPr>
              <a:lnSpc>
                <a:spcPts val="1910"/>
              </a:lnSpc>
            </a:pPr>
            <a:r>
              <a:rPr lang="en-US" sz="1300" dirty="0">
                <a:solidFill>
                  <a:srgbClr val="000000"/>
                </a:solidFill>
                <a:latin typeface="Open Sauce Light"/>
              </a:rPr>
              <a:t>Got $100 seed funding</a:t>
            </a:r>
            <a:endParaRPr lang="en-US" sz="1300" dirty="0">
              <a:solidFill>
                <a:srgbClr val="000000"/>
              </a:solidFill>
              <a:latin typeface="Open Sauce Light"/>
            </a:endParaRPr>
          </a:p>
        </p:txBody>
      </p:sp>
      <p:sp>
        <p:nvSpPr>
          <p:cNvPr id="22" name="TextBox 22"/>
          <p:cNvSpPr txBox="1"/>
          <p:nvPr/>
        </p:nvSpPr>
        <p:spPr>
          <a:xfrm>
            <a:off x="9123754" y="5087470"/>
            <a:ext cx="2736463" cy="344805"/>
          </a:xfrm>
          <a:prstGeom prst="rect">
            <a:avLst/>
          </a:prstGeom>
        </p:spPr>
        <p:txBody>
          <a:bodyPr lIns="0" tIns="0" rIns="0" bIns="0" rtlCol="0" anchor="t">
            <a:spAutoFit/>
          </a:bodyPr>
          <a:lstStyle/>
          <a:p>
            <a:pPr algn="just">
              <a:lnSpc>
                <a:spcPts val="2640"/>
              </a:lnSpc>
            </a:pPr>
            <a:r>
              <a:rPr lang="en-US" sz="2400" spc="76" dirty="0">
                <a:solidFill>
                  <a:srgbClr val="000000"/>
                </a:solidFill>
                <a:latin typeface="Open Sauce Medium"/>
              </a:rPr>
              <a:t>8 month</a:t>
            </a:r>
            <a:endParaRPr lang="en-US" sz="2400" spc="76" dirty="0">
              <a:solidFill>
                <a:srgbClr val="000000"/>
              </a:solidFill>
              <a:latin typeface="Open Sauce Medium"/>
            </a:endParaRPr>
          </a:p>
        </p:txBody>
      </p:sp>
      <p:sp>
        <p:nvSpPr>
          <p:cNvPr id="23" name="TextBox 23"/>
          <p:cNvSpPr txBox="1"/>
          <p:nvPr/>
        </p:nvSpPr>
        <p:spPr>
          <a:xfrm>
            <a:off x="9123754" y="5647494"/>
            <a:ext cx="2449249" cy="1218282"/>
          </a:xfrm>
          <a:prstGeom prst="rect">
            <a:avLst/>
          </a:prstGeom>
        </p:spPr>
        <p:txBody>
          <a:bodyPr lIns="0" tIns="0" rIns="0" bIns="0" rtlCol="0" anchor="t">
            <a:spAutoFit/>
          </a:bodyPr>
          <a:lstStyle/>
          <a:p>
            <a:pPr>
              <a:lnSpc>
                <a:spcPts val="1910"/>
              </a:lnSpc>
            </a:pPr>
            <a:r>
              <a:rPr lang="en-US" sz="1300" dirty="0">
                <a:solidFill>
                  <a:srgbClr val="000000"/>
                </a:solidFill>
                <a:latin typeface="Open Sauce Light"/>
              </a:rPr>
              <a:t>Got a contract from a marriage ceremony of sewing the bridle </a:t>
            </a:r>
            <a:r>
              <a:rPr lang="en-US" sz="1300" dirty="0" err="1">
                <a:solidFill>
                  <a:srgbClr val="000000"/>
                </a:solidFill>
                <a:latin typeface="Open Sauce Light"/>
              </a:rPr>
              <a:t>atire</a:t>
            </a:r>
            <a:r>
              <a:rPr lang="en-US" sz="1300" dirty="0">
                <a:solidFill>
                  <a:srgbClr val="000000"/>
                </a:solidFill>
                <a:latin typeface="Open Sauce Light"/>
              </a:rPr>
              <a:t> of the ceremony ,</a:t>
            </a:r>
            <a:r>
              <a:rPr lang="en-US" sz="1300" dirty="0" err="1">
                <a:solidFill>
                  <a:srgbClr val="000000"/>
                </a:solidFill>
                <a:latin typeface="Open Sauce Light"/>
              </a:rPr>
              <a:t>makeupping</a:t>
            </a:r>
            <a:r>
              <a:rPr lang="en-US" sz="1300" dirty="0">
                <a:solidFill>
                  <a:srgbClr val="000000"/>
                </a:solidFill>
                <a:latin typeface="Open Sauce Light"/>
              </a:rPr>
              <a:t> and doing </a:t>
            </a:r>
            <a:r>
              <a:rPr lang="en-US" sz="1300" dirty="0" err="1">
                <a:solidFill>
                  <a:srgbClr val="000000"/>
                </a:solidFill>
                <a:latin typeface="Open Sauce Light"/>
              </a:rPr>
              <a:t>heena</a:t>
            </a:r>
            <a:r>
              <a:rPr lang="en-US" sz="1300" dirty="0">
                <a:solidFill>
                  <a:srgbClr val="000000"/>
                </a:solidFill>
                <a:latin typeface="Open Sauce Light"/>
              </a:rPr>
              <a:t> art to the bride.</a:t>
            </a:r>
            <a:endParaRPr lang="en-US" sz="1300" dirty="0">
              <a:solidFill>
                <a:srgbClr val="000000"/>
              </a:solidFill>
              <a:latin typeface="Open Sauce Light"/>
            </a:endParaRPr>
          </a:p>
        </p:txBody>
      </p:sp>
      <p:sp>
        <p:nvSpPr>
          <p:cNvPr id="24" name="TextBox 24"/>
          <p:cNvSpPr txBox="1"/>
          <p:nvPr/>
        </p:nvSpPr>
        <p:spPr>
          <a:xfrm>
            <a:off x="12046404" y="5647494"/>
            <a:ext cx="2449249" cy="489585"/>
          </a:xfrm>
          <a:prstGeom prst="rect">
            <a:avLst/>
          </a:prstGeom>
        </p:spPr>
        <p:txBody>
          <a:bodyPr lIns="0" tIns="0" rIns="0" bIns="0" rtlCol="0" anchor="t">
            <a:spAutoFit/>
          </a:bodyPr>
          <a:lstStyle/>
          <a:p>
            <a:pPr>
              <a:lnSpc>
                <a:spcPts val="1910"/>
              </a:lnSpc>
            </a:pPr>
            <a:r>
              <a:rPr lang="en-US" sz="1300" dirty="0">
                <a:solidFill>
                  <a:srgbClr val="000000"/>
                </a:solidFill>
                <a:latin typeface="Open Sauce Light"/>
              </a:rPr>
              <a:t>Joining the crochetrs association of ouganda</a:t>
            </a:r>
            <a:endParaRPr lang="en-US" sz="1300" dirty="0">
              <a:solidFill>
                <a:srgbClr val="000000"/>
              </a:solidFill>
              <a:latin typeface="Open Sauce Light"/>
            </a:endParaRPr>
          </a:p>
        </p:txBody>
      </p:sp>
      <p:sp>
        <p:nvSpPr>
          <p:cNvPr id="26" name="TextBox 14"/>
          <p:cNvSpPr txBox="1"/>
          <p:nvPr/>
        </p:nvSpPr>
        <p:spPr>
          <a:xfrm>
            <a:off x="572728" y="794179"/>
            <a:ext cx="8147912" cy="994410"/>
          </a:xfrm>
          <a:prstGeom prst="rect">
            <a:avLst/>
          </a:prstGeom>
        </p:spPr>
        <p:txBody>
          <a:bodyPr lIns="0" tIns="0" rIns="0" bIns="0" rtlCol="0" anchor="t">
            <a:spAutoFit/>
          </a:bodyPr>
          <a:lstStyle/>
          <a:p>
            <a:pPr>
              <a:lnSpc>
                <a:spcPts val="7560"/>
              </a:lnSpc>
            </a:pPr>
            <a:r>
              <a:rPr lang="en-US" sz="7200" dirty="0">
                <a:solidFill>
                  <a:srgbClr val="055594"/>
                </a:solidFill>
                <a:latin typeface="Inter Bold"/>
              </a:rPr>
              <a:t>OUR MILESTONES</a:t>
            </a:r>
            <a:endParaRPr lang="en-US" sz="7200" dirty="0">
              <a:solidFill>
                <a:srgbClr val="055594"/>
              </a:solidFill>
              <a:latin typeface="Inter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4"/>
          <p:cNvSpPr txBox="1"/>
          <p:nvPr/>
        </p:nvSpPr>
        <p:spPr>
          <a:xfrm>
            <a:off x="572728" y="794179"/>
            <a:ext cx="12914672" cy="974626"/>
          </a:xfrm>
          <a:prstGeom prst="rect">
            <a:avLst/>
          </a:prstGeom>
        </p:spPr>
        <p:txBody>
          <a:bodyPr wrap="square" lIns="0" tIns="0" rIns="0" bIns="0" rtlCol="0" anchor="t">
            <a:spAutoFit/>
          </a:bodyPr>
          <a:lstStyle/>
          <a:p>
            <a:pPr>
              <a:lnSpc>
                <a:spcPts val="7560"/>
              </a:lnSpc>
            </a:pPr>
            <a:r>
              <a:rPr lang="en-US" sz="7200" dirty="0">
                <a:solidFill>
                  <a:srgbClr val="055594"/>
                </a:solidFill>
                <a:latin typeface="Inter Bold"/>
              </a:rPr>
              <a:t>FINANCIAL FORECAST</a:t>
            </a:r>
            <a:endParaRPr lang="en-US" sz="7200" dirty="0">
              <a:solidFill>
                <a:srgbClr val="055594"/>
              </a:solidFill>
              <a:latin typeface="Inter Bold"/>
            </a:endParaRPr>
          </a:p>
        </p:txBody>
      </p:sp>
      <p:graphicFrame>
        <p:nvGraphicFramePr>
          <p:cNvPr id="3" name="Chart 2"/>
          <p:cNvGraphicFramePr/>
          <p:nvPr/>
        </p:nvGraphicFramePr>
        <p:xfrm>
          <a:off x="2362200" y="1880716"/>
          <a:ext cx="12192000" cy="8128000"/>
        </p:xfrm>
        <a:graphic>
          <a:graphicData uri="http://schemas.openxmlformats.org/drawingml/2006/chart">
            <c:chart xmlns:c="http://schemas.openxmlformats.org/drawingml/2006/chart" xmlns:r="http://schemas.openxmlformats.org/officeDocument/2006/relationships" r:id="rId1"/>
          </a:graphicData>
        </a:graphic>
      </p:graphicFrame>
      <p:sp>
        <p:nvSpPr>
          <p:cNvPr id="4" name="TextBox 26"/>
          <p:cNvSpPr txBox="1"/>
          <p:nvPr/>
        </p:nvSpPr>
        <p:spPr>
          <a:xfrm>
            <a:off x="16184326" y="541565"/>
            <a:ext cx="1635971" cy="409599"/>
          </a:xfrm>
          <a:prstGeom prst="rect">
            <a:avLst/>
          </a:prstGeom>
        </p:spPr>
        <p:txBody>
          <a:bodyPr wrap="square" lIns="0" tIns="0" rIns="0" bIns="0" rtlCol="0" anchor="t">
            <a:spAutoFit/>
          </a:bodyPr>
          <a:lstStyle/>
          <a:p>
            <a:pPr>
              <a:lnSpc>
                <a:spcPts val="3500"/>
              </a:lnSpc>
            </a:pPr>
            <a:r>
              <a:rPr lang="en-US" sz="2500" dirty="0">
                <a:solidFill>
                  <a:srgbClr val="000000"/>
                </a:solidFill>
                <a:latin typeface="Open Sans Semi-Bold"/>
              </a:rPr>
              <a:t>I</a:t>
            </a:r>
            <a:endParaRPr lang="en-US" sz="2500" dirty="0">
              <a:solidFill>
                <a:srgbClr val="000000"/>
              </a:solidFill>
              <a:latin typeface="Open Sans Semi-Bo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4"/>
          <p:cNvSpPr txBox="1"/>
          <p:nvPr/>
        </p:nvSpPr>
        <p:spPr>
          <a:xfrm>
            <a:off x="572728" y="794179"/>
            <a:ext cx="12914672" cy="974626"/>
          </a:xfrm>
          <a:prstGeom prst="rect">
            <a:avLst/>
          </a:prstGeom>
        </p:spPr>
        <p:txBody>
          <a:bodyPr wrap="square" lIns="0" tIns="0" rIns="0" bIns="0" rtlCol="0" anchor="t">
            <a:spAutoFit/>
          </a:bodyPr>
          <a:lstStyle/>
          <a:p>
            <a:pPr>
              <a:lnSpc>
                <a:spcPts val="7560"/>
              </a:lnSpc>
            </a:pPr>
            <a:r>
              <a:rPr lang="en-US" sz="7200" dirty="0">
                <a:solidFill>
                  <a:srgbClr val="055594"/>
                </a:solidFill>
                <a:latin typeface="Inter Bold"/>
              </a:rPr>
              <a:t>INVESTMENT NEED</a:t>
            </a:r>
            <a:endParaRPr lang="en-US" sz="7200" dirty="0">
              <a:solidFill>
                <a:srgbClr val="055594"/>
              </a:solidFill>
              <a:latin typeface="Inter Bold"/>
            </a:endParaRPr>
          </a:p>
        </p:txBody>
      </p:sp>
      <p:graphicFrame>
        <p:nvGraphicFramePr>
          <p:cNvPr id="3" name="Table 2"/>
          <p:cNvGraphicFramePr>
            <a:graphicFrameLocks noGrp="1"/>
          </p:cNvGraphicFramePr>
          <p:nvPr/>
        </p:nvGraphicFramePr>
        <p:xfrm>
          <a:off x="572728" y="2175657"/>
          <a:ext cx="14591072" cy="7389257"/>
        </p:xfrm>
        <a:graphic>
          <a:graphicData uri="http://schemas.openxmlformats.org/drawingml/2006/table">
            <a:tbl>
              <a:tblPr firstRow="1" bandRow="1">
                <a:tableStyleId>{5C22544A-7EE6-4342-B048-85BDC9FD1C3A}</a:tableStyleId>
              </a:tblPr>
              <a:tblGrid>
                <a:gridCol w="410238"/>
                <a:gridCol w="2598434"/>
                <a:gridCol w="4724400"/>
                <a:gridCol w="1676400"/>
                <a:gridCol w="2362200"/>
                <a:gridCol w="2819400"/>
              </a:tblGrid>
              <a:tr h="903663">
                <a:tc>
                  <a:txBody>
                    <a:bodyPr/>
                    <a:lstStyle/>
                    <a:p>
                      <a:endParaRPr lang="en-US" sz="2400" dirty="0"/>
                    </a:p>
                  </a:txBody>
                  <a:tcPr/>
                </a:tc>
                <a:tc>
                  <a:txBody>
                    <a:bodyPr/>
                    <a:lstStyle/>
                    <a:p>
                      <a:r>
                        <a:rPr lang="en-US" sz="2400" dirty="0"/>
                        <a:t>ITEM</a:t>
                      </a:r>
                      <a:endParaRPr lang="en-US" sz="2400" dirty="0"/>
                    </a:p>
                  </a:txBody>
                  <a:tcPr/>
                </a:tc>
                <a:tc>
                  <a:txBody>
                    <a:bodyPr/>
                    <a:lstStyle/>
                    <a:p>
                      <a:r>
                        <a:rPr lang="en-US" sz="2400" dirty="0"/>
                        <a:t>ITEM DESCRIPTION</a:t>
                      </a:r>
                      <a:endParaRPr lang="en-US" sz="2400" dirty="0"/>
                    </a:p>
                  </a:txBody>
                  <a:tcPr/>
                </a:tc>
                <a:tc>
                  <a:txBody>
                    <a:bodyPr/>
                    <a:lstStyle/>
                    <a:p>
                      <a:r>
                        <a:rPr lang="en-US" sz="2400" dirty="0"/>
                        <a:t>UNIT</a:t>
                      </a:r>
                      <a:endParaRPr lang="en-US" sz="2400" dirty="0"/>
                    </a:p>
                  </a:txBody>
                  <a:tcPr/>
                </a:tc>
                <a:tc>
                  <a:txBody>
                    <a:bodyPr/>
                    <a:lstStyle/>
                    <a:p>
                      <a:r>
                        <a:rPr lang="en-US" sz="2400" dirty="0"/>
                        <a:t>COST (UGX)</a:t>
                      </a:r>
                      <a:endParaRPr lang="en-US" sz="2400" dirty="0"/>
                    </a:p>
                  </a:txBody>
                  <a:tcPr/>
                </a:tc>
                <a:tc>
                  <a:txBody>
                    <a:bodyPr/>
                    <a:lstStyle/>
                    <a:p>
                      <a:r>
                        <a:rPr lang="en-US" sz="2400" dirty="0"/>
                        <a:t>TOTAL COST(UGX)</a:t>
                      </a:r>
                      <a:endParaRPr lang="en-US" sz="2400" dirty="0"/>
                    </a:p>
                  </a:txBody>
                  <a:tcPr/>
                </a:tc>
              </a:tr>
              <a:tr h="916214">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916214">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tr>
              <a:tr h="916214">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916214">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916214">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98831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916214">
                <a:tc gridSpan="5">
                  <a:txBody>
                    <a:bodyPr/>
                    <a:lstStyle/>
                    <a:p>
                      <a:pPr algn="r"/>
                      <a:r>
                        <a:rPr lang="en-US" sz="5400" b="1" dirty="0">
                          <a:solidFill>
                            <a:srgbClr val="055594"/>
                          </a:solidFill>
                        </a:rPr>
                        <a:t>TOTAL</a:t>
                      </a:r>
                      <a:endParaRPr lang="en-US" sz="5400" b="1" dirty="0">
                        <a:solidFill>
                          <a:srgbClr val="055594"/>
                        </a:solidFill>
                      </a:endParaRPr>
                    </a:p>
                  </a:txBody>
                  <a:tcPr/>
                </a:tc>
                <a:tc hMerge="1">
                  <a:tcPr/>
                </a:tc>
                <a:tc hMerge="1">
                  <a:tcPr/>
                </a:tc>
                <a:tc hMerge="1">
                  <a:tcPr/>
                </a:tc>
                <a:tc hMerge="1">
                  <a:tcPr/>
                </a:tc>
                <a:tc>
                  <a:txBody>
                    <a:bodyPr/>
                    <a:lstStyle/>
                    <a:p>
                      <a:endParaRPr lang="en-US" dirty="0"/>
                    </a:p>
                  </a:txBody>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14"/>
          <p:cNvSpPr txBox="1"/>
          <p:nvPr/>
        </p:nvSpPr>
        <p:spPr>
          <a:xfrm>
            <a:off x="704110" y="800100"/>
            <a:ext cx="8147912" cy="994410"/>
          </a:xfrm>
          <a:prstGeom prst="rect">
            <a:avLst/>
          </a:prstGeom>
        </p:spPr>
        <p:txBody>
          <a:bodyPr lIns="0" tIns="0" rIns="0" bIns="0" rtlCol="0" anchor="t">
            <a:spAutoFit/>
          </a:bodyPr>
          <a:lstStyle/>
          <a:p>
            <a:pPr>
              <a:lnSpc>
                <a:spcPts val="7560"/>
              </a:lnSpc>
            </a:pPr>
            <a:r>
              <a:rPr lang="en-US" sz="7200" dirty="0">
                <a:solidFill>
                  <a:srgbClr val="055594"/>
                </a:solidFill>
                <a:latin typeface="Inter Bold"/>
              </a:rPr>
              <a:t>OUR TEAM</a:t>
            </a:r>
            <a:endParaRPr lang="en-US" sz="7200" dirty="0">
              <a:solidFill>
                <a:srgbClr val="055594"/>
              </a:solidFill>
              <a:latin typeface="Inter Bold"/>
            </a:endParaRPr>
          </a:p>
        </p:txBody>
      </p:sp>
      <p:sp>
        <p:nvSpPr>
          <p:cNvPr id="2" name="Text Box 1"/>
          <p:cNvSpPr txBox="1"/>
          <p:nvPr/>
        </p:nvSpPr>
        <p:spPr>
          <a:xfrm>
            <a:off x="2878455" y="3582670"/>
            <a:ext cx="6096000" cy="1198880"/>
          </a:xfrm>
          <a:prstGeom prst="rect">
            <a:avLst/>
          </a:prstGeom>
          <a:noFill/>
        </p:spPr>
        <p:txBody>
          <a:bodyPr wrap="square" rtlCol="0">
            <a:spAutoFit/>
          </a:bodyPr>
          <a:p>
            <a:pPr algn="ctr"/>
            <a:r>
              <a:rPr lang="en-US" altLang="en-GB"/>
              <a:t>1.  Masirika ines the CEO, the treasure and marketer </a:t>
            </a:r>
            <a:endParaRPr lang="en-US" altLang="en-GB"/>
          </a:p>
          <a:p>
            <a:pPr algn="ctr"/>
            <a:r>
              <a:rPr lang="en-US" altLang="en-GB"/>
              <a:t>2.  Nicole kabego; in charge oof sales in mbarara</a:t>
            </a:r>
            <a:endParaRPr lang="en-US" altLang="en-GB"/>
          </a:p>
          <a:p>
            <a:pPr algn="ctr"/>
            <a:r>
              <a:rPr lang="en-US" altLang="en-GB"/>
              <a:t>3. Masirika cynthia; production </a:t>
            </a:r>
            <a:endParaRPr lang="en-US" altLang="en-GB"/>
          </a:p>
          <a:p>
            <a:pPr algn="ctr"/>
            <a:r>
              <a:rPr lang="en-US" altLang="en-GB"/>
              <a:t>4. Sifa nyamutema; production </a:t>
            </a:r>
            <a:endParaRPr lang="en-US" altLang="en-GB"/>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20890" y="6802807"/>
            <a:ext cx="5402508" cy="540250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txBody>
            <a:bodyPr/>
            <a:lstStyle/>
            <a:p>
              <a:endParaRPr lang="en-US"/>
            </a:p>
          </p:txBody>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2480"/>
                </a:lnSpc>
              </a:pPr>
            </a:p>
          </p:txBody>
        </p:sp>
      </p:grpSp>
      <p:sp>
        <p:nvSpPr>
          <p:cNvPr id="5" name="AutoShape 5"/>
          <p:cNvSpPr/>
          <p:nvPr/>
        </p:nvSpPr>
        <p:spPr>
          <a:xfrm>
            <a:off x="1074658" y="8563446"/>
            <a:ext cx="16138684" cy="0"/>
          </a:xfrm>
          <a:prstGeom prst="line">
            <a:avLst/>
          </a:prstGeom>
          <a:ln w="38100" cap="flat">
            <a:solidFill>
              <a:srgbClr val="17726D"/>
            </a:solidFill>
            <a:prstDash val="solid"/>
            <a:headEnd type="none" w="sm" len="sm"/>
            <a:tailEnd type="none" w="sm" len="sm"/>
          </a:ln>
        </p:spPr>
        <p:txBody>
          <a:bodyPr/>
          <a:lstStyle/>
          <a:p>
            <a:endParaRPr lang="en-US"/>
          </a:p>
        </p:txBody>
      </p:sp>
      <p:grpSp>
        <p:nvGrpSpPr>
          <p:cNvPr id="6" name="Group 6"/>
          <p:cNvGrpSpPr/>
          <p:nvPr/>
        </p:nvGrpSpPr>
        <p:grpSpPr>
          <a:xfrm>
            <a:off x="10785978" y="1231643"/>
            <a:ext cx="4758515" cy="475851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E4D2"/>
            </a:solidFill>
          </p:spPr>
          <p:txBody>
            <a:bodyPr/>
            <a:lstStyle/>
            <a:p>
              <a:endParaRPr lang="en-US"/>
            </a:p>
          </p:txBody>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2480"/>
                </a:lnSpc>
              </a:pPr>
            </a:p>
          </p:txBody>
        </p:sp>
      </p:grpSp>
      <p:grpSp>
        <p:nvGrpSpPr>
          <p:cNvPr id="9" name="Group 9"/>
          <p:cNvGrpSpPr/>
          <p:nvPr/>
        </p:nvGrpSpPr>
        <p:grpSpPr>
          <a:xfrm>
            <a:off x="1074658" y="5553371"/>
            <a:ext cx="447675" cy="447675"/>
            <a:chOff x="0" y="0"/>
            <a:chExt cx="812800" cy="812800"/>
          </a:xfrm>
          <a:solidFill>
            <a:srgbClr val="055594"/>
          </a:solidFill>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pFill/>
          </p:spPr>
          <p:txBody>
            <a:bodyPr/>
            <a:lstStyle/>
            <a:p>
              <a:endParaRPr lang="en-US"/>
            </a:p>
          </p:txBody>
        </p:sp>
        <p:sp>
          <p:nvSpPr>
            <p:cNvPr id="11" name="TextBox 11"/>
            <p:cNvSpPr txBox="1"/>
            <p:nvPr/>
          </p:nvSpPr>
          <p:spPr>
            <a:xfrm>
              <a:off x="76200" y="28575"/>
              <a:ext cx="660400" cy="708025"/>
            </a:xfrm>
            <a:prstGeom prst="rect">
              <a:avLst/>
            </a:prstGeom>
            <a:grpFill/>
          </p:spPr>
          <p:txBody>
            <a:bodyPr lIns="50800" tIns="50800" rIns="50800" bIns="50800" rtlCol="0" anchor="ctr"/>
            <a:lstStyle/>
            <a:p>
              <a:pPr algn="ctr">
                <a:lnSpc>
                  <a:spcPts val="2480"/>
                </a:lnSpc>
              </a:pPr>
            </a:p>
          </p:txBody>
        </p:sp>
      </p:grpSp>
      <p:grpSp>
        <p:nvGrpSpPr>
          <p:cNvPr id="13" name="Group 13"/>
          <p:cNvGrpSpPr/>
          <p:nvPr/>
        </p:nvGrpSpPr>
        <p:grpSpPr>
          <a:xfrm>
            <a:off x="15972039" y="656036"/>
            <a:ext cx="1241303" cy="575606"/>
            <a:chOff x="0" y="0"/>
            <a:chExt cx="326928" cy="151600"/>
          </a:xfrm>
        </p:grpSpPr>
        <p:sp>
          <p:nvSpPr>
            <p:cNvPr id="14" name="Freeform 14"/>
            <p:cNvSpPr/>
            <p:nvPr/>
          </p:nvSpPr>
          <p:spPr>
            <a:xfrm>
              <a:off x="0" y="0"/>
              <a:ext cx="326928" cy="151600"/>
            </a:xfrm>
            <a:custGeom>
              <a:avLst/>
              <a:gdLst/>
              <a:ahLst/>
              <a:cxnLst/>
              <a:rect l="l" t="t" r="r" b="b"/>
              <a:pathLst>
                <a:path w="326928" h="151600">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055594"/>
            </a:solidFill>
          </p:spPr>
          <p:txBody>
            <a:bodyPr/>
            <a:lstStyle/>
            <a:p>
              <a:endParaRPr lang="en-US"/>
            </a:p>
          </p:txBody>
        </p:sp>
        <p:sp>
          <p:nvSpPr>
            <p:cNvPr id="15" name="TextBox 15"/>
            <p:cNvSpPr txBox="1"/>
            <p:nvPr/>
          </p:nvSpPr>
          <p:spPr>
            <a:xfrm>
              <a:off x="0" y="-47625"/>
              <a:ext cx="326928" cy="199225"/>
            </a:xfrm>
            <a:prstGeom prst="rect">
              <a:avLst/>
            </a:prstGeom>
          </p:spPr>
          <p:txBody>
            <a:bodyPr lIns="50800" tIns="50800" rIns="50800" bIns="50800" rtlCol="0" anchor="ctr"/>
            <a:lstStyle/>
            <a:p>
              <a:pPr algn="ctr">
                <a:lnSpc>
                  <a:spcPts val="2480"/>
                </a:lnSpc>
              </a:pPr>
            </a:p>
          </p:txBody>
        </p:sp>
      </p:grpSp>
      <p:sp>
        <p:nvSpPr>
          <p:cNvPr id="16" name="Freeform 16"/>
          <p:cNvSpPr/>
          <p:nvPr/>
        </p:nvSpPr>
        <p:spPr>
          <a:xfrm>
            <a:off x="16275918" y="793769"/>
            <a:ext cx="633545" cy="300142"/>
          </a:xfrm>
          <a:custGeom>
            <a:avLst/>
            <a:gdLst/>
            <a:ahLst/>
            <a:cxnLst/>
            <a:rect l="l" t="t" r="r" b="b"/>
            <a:pathLst>
              <a:path w="633545" h="300142">
                <a:moveTo>
                  <a:pt x="0" y="0"/>
                </a:moveTo>
                <a:lnTo>
                  <a:pt x="633545" y="0"/>
                </a:lnTo>
                <a:lnTo>
                  <a:pt x="633545" y="300141"/>
                </a:lnTo>
                <a:lnTo>
                  <a:pt x="0" y="300141"/>
                </a:lnTo>
                <a:lnTo>
                  <a:pt x="0" y="0"/>
                </a:lnTo>
                <a:close/>
              </a:path>
            </a:pathLst>
          </a:custGeom>
          <a:blipFill>
            <a:blip r:embed="rId1"/>
            <a:srcRect/>
            <a:stretch>
              <a:fillRect/>
            </a:stretch>
          </a:blipFill>
        </p:spPr>
        <p:txBody>
          <a:bodyPr/>
          <a:lstStyle/>
          <a:p>
            <a:endParaRPr lang="en-US"/>
          </a:p>
        </p:txBody>
      </p:sp>
      <p:sp>
        <p:nvSpPr>
          <p:cNvPr id="17" name="TextBox 17"/>
          <p:cNvSpPr txBox="1"/>
          <p:nvPr/>
        </p:nvSpPr>
        <p:spPr>
          <a:xfrm>
            <a:off x="981075" y="2874521"/>
            <a:ext cx="14166687" cy="2678850"/>
          </a:xfrm>
          <a:prstGeom prst="rect">
            <a:avLst/>
          </a:prstGeom>
        </p:spPr>
        <p:txBody>
          <a:bodyPr lIns="0" tIns="0" rIns="0" bIns="0" rtlCol="0" anchor="t">
            <a:spAutoFit/>
          </a:bodyPr>
          <a:lstStyle/>
          <a:p>
            <a:pPr>
              <a:lnSpc>
                <a:spcPts val="21875"/>
              </a:lnSpc>
            </a:pPr>
            <a:r>
              <a:rPr lang="en-US" sz="15625" dirty="0">
                <a:solidFill>
                  <a:srgbClr val="055594"/>
                </a:solidFill>
                <a:latin typeface="Inter Bold"/>
              </a:rPr>
              <a:t>THANK YOU</a:t>
            </a:r>
            <a:endParaRPr lang="en-US" sz="15625" dirty="0">
              <a:solidFill>
                <a:srgbClr val="055594"/>
              </a:solidFill>
              <a:latin typeface="Inter Bold"/>
            </a:endParaRPr>
          </a:p>
        </p:txBody>
      </p:sp>
      <p:sp>
        <p:nvSpPr>
          <p:cNvPr id="18" name="TextBox 18"/>
          <p:cNvSpPr txBox="1"/>
          <p:nvPr/>
        </p:nvSpPr>
        <p:spPr>
          <a:xfrm>
            <a:off x="1074658" y="9213231"/>
            <a:ext cx="2012164" cy="317500"/>
          </a:xfrm>
          <a:prstGeom prst="rect">
            <a:avLst/>
          </a:prstGeom>
        </p:spPr>
        <p:txBody>
          <a:bodyPr lIns="0" tIns="0" rIns="0" bIns="0" rtlCol="0" anchor="t">
            <a:spAutoFit/>
          </a:bodyPr>
          <a:lstStyle/>
          <a:p>
            <a:pPr algn="just">
              <a:lnSpc>
                <a:spcPts val="2480"/>
              </a:lnSpc>
            </a:pPr>
            <a:r>
              <a:rPr lang="en-US" sz="1600" dirty="0">
                <a:solidFill>
                  <a:srgbClr val="000000"/>
                </a:solidFill>
                <a:latin typeface="Open Sans Medium"/>
              </a:rPr>
              <a:t>0775732749 </a:t>
            </a:r>
            <a:endParaRPr lang="en-US" sz="1600" dirty="0">
              <a:solidFill>
                <a:srgbClr val="000000"/>
              </a:solidFill>
              <a:latin typeface="Open Sans Medium"/>
            </a:endParaRPr>
          </a:p>
        </p:txBody>
      </p:sp>
      <p:sp>
        <p:nvSpPr>
          <p:cNvPr id="19" name="TextBox 19"/>
          <p:cNvSpPr txBox="1"/>
          <p:nvPr/>
        </p:nvSpPr>
        <p:spPr>
          <a:xfrm>
            <a:off x="1074658" y="8881603"/>
            <a:ext cx="2012164" cy="290830"/>
          </a:xfrm>
          <a:prstGeom prst="rect">
            <a:avLst/>
          </a:prstGeom>
        </p:spPr>
        <p:txBody>
          <a:bodyPr lIns="0" tIns="0" rIns="0" bIns="0" rtlCol="0" anchor="t">
            <a:spAutoFit/>
          </a:bodyPr>
          <a:lstStyle/>
          <a:p>
            <a:pPr marL="0" indent="0" algn="just">
              <a:lnSpc>
                <a:spcPts val="2480"/>
              </a:lnSpc>
            </a:pPr>
            <a:r>
              <a:rPr lang="en-US" sz="1600">
                <a:solidFill>
                  <a:srgbClr val="000000"/>
                </a:solidFill>
                <a:latin typeface="Open Sans Bold"/>
              </a:rPr>
              <a:t>Telephone</a:t>
            </a:r>
            <a:endParaRPr lang="en-US" sz="1600">
              <a:solidFill>
                <a:srgbClr val="000000"/>
              </a:solidFill>
              <a:latin typeface="Open Sans Bold"/>
            </a:endParaRPr>
          </a:p>
        </p:txBody>
      </p:sp>
      <p:sp>
        <p:nvSpPr>
          <p:cNvPr id="20" name="TextBox 20"/>
          <p:cNvSpPr txBox="1"/>
          <p:nvPr/>
        </p:nvSpPr>
        <p:spPr>
          <a:xfrm>
            <a:off x="3575225" y="9213231"/>
            <a:ext cx="2725663" cy="317500"/>
          </a:xfrm>
          <a:prstGeom prst="rect">
            <a:avLst/>
          </a:prstGeom>
        </p:spPr>
        <p:txBody>
          <a:bodyPr lIns="0" tIns="0" rIns="0" bIns="0" rtlCol="0" anchor="t">
            <a:spAutoFit/>
          </a:bodyPr>
          <a:lstStyle/>
          <a:p>
            <a:pPr algn="just">
              <a:lnSpc>
                <a:spcPts val="2480"/>
              </a:lnSpc>
            </a:pPr>
            <a:r>
              <a:rPr lang="en-US" sz="1600" dirty="0">
                <a:solidFill>
                  <a:srgbClr val="000000"/>
                </a:solidFill>
                <a:latin typeface="Open Sans"/>
              </a:rPr>
              <a:t>New Sangano</a:t>
            </a:r>
            <a:endParaRPr lang="en-US" sz="1600" dirty="0">
              <a:solidFill>
                <a:srgbClr val="000000"/>
              </a:solidFill>
              <a:latin typeface="Open Sans"/>
            </a:endParaRPr>
          </a:p>
        </p:txBody>
      </p:sp>
      <p:sp>
        <p:nvSpPr>
          <p:cNvPr id="21" name="TextBox 21"/>
          <p:cNvSpPr txBox="1"/>
          <p:nvPr/>
        </p:nvSpPr>
        <p:spPr>
          <a:xfrm>
            <a:off x="6824763" y="9213231"/>
            <a:ext cx="2868747" cy="290830"/>
          </a:xfrm>
          <a:prstGeom prst="rect">
            <a:avLst/>
          </a:prstGeom>
        </p:spPr>
        <p:txBody>
          <a:bodyPr lIns="0" tIns="0" rIns="0" bIns="0" rtlCol="0" anchor="t">
            <a:spAutoFit/>
          </a:bodyPr>
          <a:lstStyle/>
          <a:p>
            <a:pPr algn="just">
              <a:lnSpc>
                <a:spcPts val="2480"/>
              </a:lnSpc>
            </a:pPr>
            <a:r>
              <a:rPr lang="en-US" sz="1600" dirty="0">
                <a:solidFill>
                  <a:srgbClr val="000000"/>
                </a:solidFill>
                <a:latin typeface="Open Sans"/>
              </a:rPr>
              <a:t>Fill Here</a:t>
            </a:r>
            <a:endParaRPr lang="en-US" sz="1600" dirty="0">
              <a:solidFill>
                <a:srgbClr val="000000"/>
              </a:solidFill>
              <a:latin typeface="Open Sans"/>
            </a:endParaRPr>
          </a:p>
        </p:txBody>
      </p:sp>
      <p:sp>
        <p:nvSpPr>
          <p:cNvPr id="22" name="TextBox 22"/>
          <p:cNvSpPr txBox="1"/>
          <p:nvPr/>
        </p:nvSpPr>
        <p:spPr>
          <a:xfrm>
            <a:off x="3575225" y="8881603"/>
            <a:ext cx="2725663" cy="290830"/>
          </a:xfrm>
          <a:prstGeom prst="rect">
            <a:avLst/>
          </a:prstGeom>
        </p:spPr>
        <p:txBody>
          <a:bodyPr lIns="0" tIns="0" rIns="0" bIns="0" rtlCol="0" anchor="t">
            <a:spAutoFit/>
          </a:bodyPr>
          <a:lstStyle/>
          <a:p>
            <a:pPr marL="0" indent="0" algn="just">
              <a:lnSpc>
                <a:spcPts val="2480"/>
              </a:lnSpc>
            </a:pPr>
            <a:r>
              <a:rPr lang="en-US" sz="1600">
                <a:solidFill>
                  <a:srgbClr val="000000"/>
                </a:solidFill>
                <a:latin typeface="Open Sans Bold"/>
              </a:rPr>
              <a:t>Address</a:t>
            </a:r>
            <a:endParaRPr lang="en-US" sz="1600">
              <a:solidFill>
                <a:srgbClr val="000000"/>
              </a:solidFill>
              <a:latin typeface="Open Sans Bold"/>
            </a:endParaRPr>
          </a:p>
        </p:txBody>
      </p:sp>
      <p:sp>
        <p:nvSpPr>
          <p:cNvPr id="23" name="TextBox 23"/>
          <p:cNvSpPr txBox="1"/>
          <p:nvPr/>
        </p:nvSpPr>
        <p:spPr>
          <a:xfrm>
            <a:off x="6824763" y="8881603"/>
            <a:ext cx="2868747" cy="290830"/>
          </a:xfrm>
          <a:prstGeom prst="rect">
            <a:avLst/>
          </a:prstGeom>
        </p:spPr>
        <p:txBody>
          <a:bodyPr lIns="0" tIns="0" rIns="0" bIns="0" rtlCol="0" anchor="t">
            <a:spAutoFit/>
          </a:bodyPr>
          <a:lstStyle/>
          <a:p>
            <a:pPr marL="0" indent="0" algn="just">
              <a:lnSpc>
                <a:spcPts val="2480"/>
              </a:lnSpc>
            </a:pPr>
            <a:r>
              <a:rPr lang="en-US" sz="1600">
                <a:solidFill>
                  <a:srgbClr val="000000"/>
                </a:solidFill>
                <a:latin typeface="Open Sans Bold"/>
              </a:rPr>
              <a:t>Website</a:t>
            </a:r>
            <a:endParaRPr lang="en-US" sz="1600">
              <a:solidFill>
                <a:srgbClr val="000000"/>
              </a:solidFill>
              <a:latin typeface="Open Sans Bold"/>
            </a:endParaRPr>
          </a:p>
        </p:txBody>
      </p:sp>
      <p:sp>
        <p:nvSpPr>
          <p:cNvPr id="24" name="TextBox 24"/>
          <p:cNvSpPr txBox="1"/>
          <p:nvPr/>
        </p:nvSpPr>
        <p:spPr>
          <a:xfrm>
            <a:off x="14344595" y="8862553"/>
            <a:ext cx="2868747" cy="368301"/>
          </a:xfrm>
          <a:prstGeom prst="rect">
            <a:avLst/>
          </a:prstGeom>
        </p:spPr>
        <p:txBody>
          <a:bodyPr lIns="0" tIns="0" rIns="0" bIns="0" rtlCol="0" anchor="t">
            <a:spAutoFit/>
          </a:bodyPr>
          <a:lstStyle/>
          <a:p>
            <a:pPr marL="0" indent="0" algn="r">
              <a:lnSpc>
                <a:spcPts val="3100"/>
              </a:lnSpc>
            </a:pPr>
            <a:r>
              <a:rPr lang="en-US" sz="2000" dirty="0">
                <a:solidFill>
                  <a:srgbClr val="000000"/>
                </a:solidFill>
                <a:latin typeface="Open Sans Bold"/>
              </a:rPr>
              <a:t>Date</a:t>
            </a:r>
            <a:endParaRPr lang="en-US" sz="2000" dirty="0">
              <a:solidFill>
                <a:srgbClr val="000000"/>
              </a:solidFill>
              <a:latin typeface="Open Sans Bold"/>
            </a:endParaRPr>
          </a:p>
        </p:txBody>
      </p:sp>
      <p:sp>
        <p:nvSpPr>
          <p:cNvPr id="25" name="TextBox 25"/>
          <p:cNvSpPr txBox="1"/>
          <p:nvPr/>
        </p:nvSpPr>
        <p:spPr>
          <a:xfrm>
            <a:off x="1690843" y="5507968"/>
            <a:ext cx="8069342" cy="481330"/>
          </a:xfrm>
          <a:prstGeom prst="rect">
            <a:avLst/>
          </a:prstGeom>
        </p:spPr>
        <p:txBody>
          <a:bodyPr lIns="0" tIns="0" rIns="0" bIns="0" rtlCol="0" anchor="t">
            <a:spAutoFit/>
          </a:bodyPr>
          <a:lstStyle/>
          <a:p>
            <a:pPr marL="0" indent="0">
              <a:lnSpc>
                <a:spcPts val="3920"/>
              </a:lnSpc>
            </a:pPr>
            <a:r>
              <a:rPr lang="en-US" sz="2800" spc="207" dirty="0">
                <a:solidFill>
                  <a:srgbClr val="000000"/>
                </a:solidFill>
                <a:latin typeface="Open Sans Semi-Bold"/>
              </a:rPr>
              <a:t>FOR YOUR NICE ATTENTION</a:t>
            </a:r>
            <a:endParaRPr lang="en-US" sz="2800" spc="207" dirty="0">
              <a:solidFill>
                <a:srgbClr val="000000"/>
              </a:solidFill>
              <a:latin typeface="Open Sans Semi-Bo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Notes Theme">
  <a:themeElements>
    <a:clrScheme name="Office Notes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Notes Theme">
      <a:majorFont>
        <a:latin typeface="Calibri"/>
        <a:ea typeface=""/>
        <a:cs typeface=""/>
      </a:majorFont>
      <a:minorFont>
        <a:latin typeface="Calibri"/>
        <a:ea typeface=""/>
        <a:cs typeface=""/>
      </a:minorFont>
    </a:fontScheme>
    <a:fmtScheme name="Office Notes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1"/>
        </a:gradFill>
      </a:fillStyleLst>
      <a:lnStyleLst>
        <a:ln w="9525" cap="flat" cmpd="sng">
          <a:solidFill>
            <a:schemeClr val="phClr">
              <a:shade val="95000"/>
              <a:satMod val="105000"/>
            </a:schemeClr>
          </a:solidFill>
          <a:prstDash val="solid"/>
        </a:ln>
        <a:ln w="25400" cap="flat" cmpd="sng">
          <a:solidFill>
            <a:schemeClr val="phClr"/>
          </a:solidFill>
          <a:prstDash val="solid"/>
        </a:ln>
        <a:ln w="38100" cap="flat" cmpd="sng">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2336</Words>
  <Application>WPS Presentation</Application>
  <PresentationFormat>Custom</PresentationFormat>
  <Paragraphs>168</Paragraphs>
  <Slides>14</Slides>
  <Notes>3</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14</vt:i4>
      </vt:variant>
    </vt:vector>
  </HeadingPairs>
  <TitlesOfParts>
    <vt:vector size="33" baseType="lpstr">
      <vt:lpstr>Arial</vt:lpstr>
      <vt:lpstr>SimSun</vt:lpstr>
      <vt:lpstr>Wingdings</vt:lpstr>
      <vt:lpstr>Inter Bold</vt:lpstr>
      <vt:lpstr>Segoe Print</vt:lpstr>
      <vt:lpstr>Open Sans Semi-Bold</vt:lpstr>
      <vt:lpstr>Open Sans Medium</vt:lpstr>
      <vt:lpstr>Open Sans Bold</vt:lpstr>
      <vt:lpstr>Open Sans</vt:lpstr>
      <vt:lpstr>Bahnschrift SemiBold</vt:lpstr>
      <vt:lpstr>Arimo Italics</vt:lpstr>
      <vt:lpstr>Arimo Bold Italics</vt:lpstr>
      <vt:lpstr>Open Sauce Medium</vt:lpstr>
      <vt:lpstr>Open Sauce Light</vt:lpstr>
      <vt:lpstr>Calibri</vt:lpstr>
      <vt:lpstr>Microsoft YaHei</vt:lpstr>
      <vt:lpstr>Arial Unicode MS</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PITCH DECK TEMPLATE_U-ACCELERATE</dc:title>
  <dc:creator>UNLEASHED(PIM)-UL4</dc:creator>
  <cp:lastModifiedBy>Louis Bahunde</cp:lastModifiedBy>
  <cp:revision>50</cp:revision>
  <dcterms:created xsi:type="dcterms:W3CDTF">2006-08-16T00:00:00Z</dcterms:created>
  <dcterms:modified xsi:type="dcterms:W3CDTF">2026-02-20T21:24:09Z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B727A2DF480C40C48B109507EA7F5198_12</vt:lpwstr>
  </property>
  <property fmtid="{D5CDD505-2E9C-101B-9397-08002B2CF9AE}" pid="3" name="KSOProductBuildVer">
    <vt:lpwstr>2057-12.2.0.23197</vt:lpwstr>
  </property>
</Properties>
</file>